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9" r:id="rId9"/>
    <p:sldId id="260" r:id="rId10"/>
    <p:sldId id="261" r:id="rId11"/>
    <p:sldId id="266" r:id="rId16"/>
    <p:sldId id="268" r:id="rId18"/>
    <p:sldId id="270" r:id="rId20"/>
    <p:sldId id="271" r:id="rId21"/>
    <p:sldId id="273" r:id="rId23"/>
    <p:sldId id="276" r:id="rId26"/>
    <p:sldId id="279" r:id="rId29"/>
    <p:sldId id="281" r:id="rId31"/>
    <p:sldId id="286" r:id="rId36"/>
    <p:sldId id="287" r:id="rId37"/>
    <p:sldId id="289" r:id="rId39"/>
  </p:sldIdLst>
  <p:sldSz cy="5143500" cx="9144000"/>
  <p:notesSz cx="6858000" cy="9144000"/>
  <p:embeddedFontLst>
    <p:embeddedFont>
      <p:font typeface="Roboto Mono"/>
      <p:regular r:id="rId40"/>
      <p:bold r:id="rId41"/>
      <p:italic r:id="rId42"/>
      <p:boldItalic r:id="rId43"/>
    </p:embeddedFont>
    <p:embeddedFont>
      <p:font typeface="Open Sans Light"/>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59">
          <p15:clr>
            <a:srgbClr val="747775"/>
          </p15:clr>
        </p15:guide>
        <p15:guide id="2" pos="5522">
          <p15:clr>
            <a:srgbClr val="747775"/>
          </p15:clr>
        </p15:guide>
        <p15:guide id="3" orient="horz" pos="764">
          <p15:clr>
            <a:srgbClr val="747775"/>
          </p15:clr>
        </p15:guide>
        <p15:guide id="4" orient="horz" pos="2478">
          <p15:clr>
            <a:srgbClr val="747775"/>
          </p15:clr>
        </p15:guide>
        <p15:guide id="5" orient="horz" pos="2615">
          <p15:clr>
            <a:srgbClr val="747775"/>
          </p15:clr>
        </p15:guide>
        <p15:guide id="6" orient="horz" pos="3023">
          <p15:clr>
            <a:srgbClr val="747775"/>
          </p15:clr>
        </p15:guide>
        <p15:guide id="7" pos="1813">
          <p15:clr>
            <a:srgbClr val="747775"/>
          </p15:clr>
        </p15:guide>
        <p15:guide id="8" pos="1950">
          <p15:clr>
            <a:srgbClr val="747775"/>
          </p15:clr>
        </p15:guide>
        <p15:guide id="9" pos="3652">
          <p15:clr>
            <a:srgbClr val="747775"/>
          </p15:clr>
        </p15:guide>
        <p15:guide id="10" pos="379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59"/>
        <p:guide pos="5522"/>
        <p:guide pos="764" orient="horz"/>
        <p:guide pos="2478" orient="horz"/>
        <p:guide pos="2615" orient="horz"/>
        <p:guide pos="3023" orient="horz"/>
        <p:guide pos="1813"/>
        <p:guide pos="1950"/>
        <p:guide pos="3652"/>
        <p:guide pos="379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6" Type="http://schemas.openxmlformats.org/officeDocument/2006/relationships/slide" Target="slides/slide5.xml"/><Relationship Id="rId18"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3" Type="http://schemas.openxmlformats.org/officeDocument/2006/relationships/slide" Target="slides/slide9.xml"/><Relationship Id="rId26" Type="http://schemas.openxmlformats.org/officeDocument/2006/relationships/slide" Target="slides/slide10.xml"/><Relationship Id="rId29" Type="http://schemas.openxmlformats.org/officeDocument/2006/relationships/slide" Target="slides/slide11.xml"/><Relationship Id="rId31" Type="http://schemas.openxmlformats.org/officeDocument/2006/relationships/slide" Target="slides/slide12.xml"/><Relationship Id="rId36" Type="http://schemas.openxmlformats.org/officeDocument/2006/relationships/slide" Target="slides/slide13.xml"/><Relationship Id="rId37" Type="http://schemas.openxmlformats.org/officeDocument/2006/relationships/slide" Target="slides/slide14.xml"/><Relationship Id="rId39" Type="http://schemas.openxmlformats.org/officeDocument/2006/relationships/slide" Target="slides/slide15.xml"/><Relationship Id="rId40" Type="http://schemas.openxmlformats.org/officeDocument/2006/relationships/font" Target="fonts/RobotoMono-regular.fntdata"/><Relationship Id="rId41" Type="http://schemas.openxmlformats.org/officeDocument/2006/relationships/font" Target="fonts/RobotoMono-bold.fntdata"/><Relationship Id="rId42" Type="http://schemas.openxmlformats.org/officeDocument/2006/relationships/font" Target="fonts/RobotoMono-italic.fntdata"/><Relationship Id="rId43" Type="http://schemas.openxmlformats.org/officeDocument/2006/relationships/font" Target="fonts/RobotoMono-boldItalic.fntdata"/><Relationship Id="rId44" Type="http://schemas.openxmlformats.org/officeDocument/2006/relationships/font" Target="fonts/OpenSansLight-regular.fntdata"/><Relationship Id="rId45" Type="http://schemas.openxmlformats.org/officeDocument/2006/relationships/font" Target="fonts/OpenSansLight-bold.fntdata"/><Relationship Id="rId46" Type="http://schemas.openxmlformats.org/officeDocument/2006/relationships/font" Target="fonts/OpenSansLight-italic.fntdata"/><Relationship Id="rId47" Type="http://schemas.openxmlformats.org/officeDocument/2006/relationships/font" Target="fonts/OpenSansLight-boldItalic.fntdata"/><Relationship Id="rId48" Type="http://schemas.openxmlformats.org/officeDocument/2006/relationships/font" Target="fonts/OpenSans-regular.fntdata"/><Relationship Id="rId49" Type="http://schemas.openxmlformats.org/officeDocument/2006/relationships/font" Target="fonts/OpenSans-bold.fntdata"/><Relationship Id="rId50" Type="http://schemas.openxmlformats.org/officeDocument/2006/relationships/font" Target="fonts/OpenSans-italic.fntdata"/><Relationship Id="rId51"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45d6ec7d82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g345d6ec7d82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51" name="Google Shape;51;g345d6ec7d82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eae0d0703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g3eeae0d0703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GB" sz="1200" u="none" cap="none" strike="noStrike">
                <a:solidFill>
                  <a:schemeClr val="dk1"/>
                </a:solidFill>
                <a:latin typeface="Arial"/>
                <a:ea typeface="Arial"/>
                <a:cs typeface="Arial"/>
                <a:sym typeface="Arial"/>
              </a:rPr>
              <a:t>Welcome to Lesson 2 of Module 3 — Probability and Statistics. Today's question is the one Priya asked Sarah at the end of L01: 'how SURE are we?' We'll learn to bracket every number Sarah quotes with confidence intervals and p-values. Same structure as last week: ~90 minutes of slides, ~90 minutes of hands-on work.</a:t>
            </a:r>
            <a:endParaRPr/>
          </a:p>
        </p:txBody>
      </p:sp>
      <p:sp>
        <p:nvSpPr>
          <p:cNvPr id="75" name="Google Shape;75;g3eeae0d0703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eae0d0703_0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g3eeae0d0703_0_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Quick recap from Friday of L01. Sarah's deck looked great, but Priya's question — 'how sure are we?' — exposed the gap. The model put a label on every review. We have no measure of confidence on individual predictions, no measure of confidence on the aggregate. That's what L02 fixes. Three statistical tools, one for each of the three numbers Sarah quoted.</a:t>
            </a:r>
            <a:endParaRPr/>
          </a:p>
        </p:txBody>
      </p:sp>
      <p:sp>
        <p:nvSpPr>
          <p:cNvPr id="85" name="Google Shape;85;g3eeae0d0703_0_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eae0d0703_0_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g3eeae0d0703_0_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Monday morning. Sarah pulls all 10,000 polarity scores from the L01 sentiment run and plots a histogram. She expects a bell curve. Instead she sees something lopsided — more mildly positive than strongly positive, a long tail. She freezes: 'How do I describe this shape to Priya?' This is where distribution analysis becomes useful. The shape of the data IS the answer to a lot of business questions.</a:t>
            </a:r>
            <a:endParaRPr/>
          </a:p>
        </p:txBody>
      </p:sp>
      <p:sp>
        <p:nvSpPr>
          <p:cNvPr id="116" name="Google Shape;116;g3eeae0d0703_0_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eae0d0703_0_1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g3eeae0d0703_0_1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The most practical takeaway from distribution theory: knowing when to quote mean vs median. With symmetric data, they're interchangeable. With skewed data, they diverge — sometimes dramatically. Incomes are the canonical example: a few high earners pull the mean way above the median. Always check both before quoting either.</a:t>
            </a:r>
            <a:endParaRPr/>
          </a:p>
        </p:txBody>
      </p:sp>
      <p:sp>
        <p:nvSpPr>
          <p:cNvPr id="251" name="Google Shape;251;g3eeae0d0703_0_1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eae0d0703_0_2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g3eeae0d0703_0_2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Z-scores translate any value into 'standard deviations from the mean'. A Z of 0 is exactly average. A Z of 2 means 'two standard deviations above average'. A Z of -3 means 'three standard deviations below — an outlier worth investigating'. This single transformation is the foundation of feature standardisation in ML and of outlier detection in operations.</a:t>
            </a:r>
            <a:endParaRPr/>
          </a:p>
        </p:txBody>
      </p:sp>
      <p:sp>
        <p:nvSpPr>
          <p:cNvPr id="290" name="Google Shape;290;g3eeae0d0703_0_2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eeae0d0703_0_2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g3eeae0d0703_0_2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Time for a 30-minute code-along on 02_distributions.ipynb. Open the notebook and work through the Core section. Stop at the 🟡 marker — Extension content is for self-study. Raise your hand if you get stuck.</a:t>
            </a:r>
            <a:endParaRPr/>
          </a:p>
        </p:txBody>
      </p:sp>
      <p:sp>
        <p:nvSpPr>
          <p:cNvPr id="329" name="Google Shape;329;g3eeae0d0703_0_24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eeae0d0703_0_2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g3eeae0d0703_0_26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Wednesday morning. Sarah hand-labels 200 reviews and finds the model agrees on 167 — about 84% accuracy. She's pleased. But Priya immediately asks: 'is it EXACTLY 84%?' Sarah pauses. If she'd labelled a different 200, would she still get 84%? Or could it be 79%? Or 90%? This is the sampling problem — any number from a sample carries uncertainty. We need a way to bracket it.</a:t>
            </a:r>
            <a:endParaRPr/>
          </a:p>
        </p:txBody>
      </p:sp>
      <p:sp>
        <p:nvSpPr>
          <p:cNvPr id="345" name="Google Shape;345;g3eeae0d0703_0_26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eeae0d0703_0_3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g3eeae0d0703_0_3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The Central Limit Theorem explains why the histogram you just saw is bell-shaped — even though the underlying data is binary (correct/incorrect, not normal). The CLT says: averages from many samples follow a normal distribution. This is the deepest result in statistics and the reason confidence intervals work on essentially any kind of accuracy or rate metric you'll ever compute.</a:t>
            </a:r>
            <a:endParaRPr/>
          </a:p>
        </p:txBody>
      </p:sp>
      <p:sp>
        <p:nvSpPr>
          <p:cNvPr id="394" name="Google Shape;394;g3eeae0d0703_0_3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eeae0d0703_0_4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g3eeae0d0703_0_4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Now we get to the practical pay-off. A confidence interval is a range that probably contains the true value. For a 95% CI: if we repeated this experiment many times and computed the interval each time, 95% of those intervals would contain the true value. The interval IS the bracket Sarah needs around 84%.</a:t>
            </a:r>
            <a:endParaRPr/>
          </a:p>
        </p:txBody>
      </p:sp>
      <p:sp>
        <p:nvSpPr>
          <p:cNvPr id="498" name="Google Shape;498;g3eeae0d0703_0_4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eae0d0703_0_4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g3eeae0d0703_0_4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Thursday. Aisha walks in with the apology coupon idea — automatically send a 10% coupon to anyone the model tags NEGATIVE. Sarah agrees it could work. Then Marcus, the CTO, stops by: 'thousands of pounds a week — will this actually reduce churn, or are we adding ops complexity for noise?' The question needs an A/B test.</a:t>
            </a:r>
            <a:endParaRPr/>
          </a:p>
        </p:txBody>
      </p:sp>
      <p:sp>
        <p:nvSpPr>
          <p:cNvPr id="547" name="Google Shape;547;g3eeae0d0703_0_46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eeae0d0703_0_5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g3eeae0d0703_0_5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The p-value is the probability of seeing results AT LEAST THIS EXTREME, assuming the null hypothesis is true. If p is small (typically &lt; 0.05), the observed data would be unlikely under H₀, so we reject H₀. The two-proportion z-test is the right tool for comparing rates between two groups — control and treatment. The formula is in lesson.md; the notebook computes it from scratch.</a:t>
            </a:r>
            <a:endParaRPr/>
          </a:p>
        </p:txBody>
      </p:sp>
      <p:sp>
        <p:nvSpPr>
          <p:cNvPr id="597" name="Google Shape;597;g3eeae0d0703_0_5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eeae0d0703_0_58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9" name="Google Shape;689;g3eeae0d0703_0_58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Friday. Sarah walks into the leadership meeting with exactly three numbers — and three statistical tools to defend each one. Distribution analysis for the 60%, confidence interval for the 84%, A/B test + p-value for the coupon effect. Priya nods. Marcus nods. The model — and Sarah's process — survive their first real test.</a:t>
            </a:r>
            <a:endParaRPr/>
          </a:p>
        </p:txBody>
      </p:sp>
      <p:sp>
        <p:nvSpPr>
          <p:cNvPr id="690" name="Google Shape;690;g3eeae0d0703_0_58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eeae0d0703_0_6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7" name="Google Shape;717;g3eeae0d0703_0_6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Marcus's new question — 'can you train your OWN model on NorthStar data?' — is the engine of Lesson 3. L03 introduces the supervised learning workflow proper: train/test split, preprocessing, linear and logistic regression, and the metrics that tell you whether your model is good. Come ready to build your first model from scratch.</a:t>
            </a:r>
            <a:endParaRPr/>
          </a:p>
        </p:txBody>
      </p:sp>
      <p:sp>
        <p:nvSpPr>
          <p:cNvPr id="718" name="Google Shape;718;g3eeae0d0703_0_6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3e6a5a0b6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3e6a5a0b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g33e6a5a0b6e_0_0: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 name="Google Shape;15;p3"/>
          <p:cNvSpPr txBox="1"/>
          <p:nvPr>
            <p:ph idx="1" type="body"/>
          </p:nvPr>
        </p:nvSpPr>
        <p:spPr>
          <a:xfrm>
            <a:off x="376850" y="987925"/>
            <a:ext cx="8310000" cy="3607500"/>
          </a:xfrm>
          <a:prstGeom prst="rect">
            <a:avLst/>
          </a:prstGeom>
          <a:noFill/>
          <a:ln>
            <a:noFill/>
          </a:ln>
        </p:spPr>
        <p:txBody>
          <a:bodyPr anchorCtr="0" anchor="t" bIns="34275" lIns="68575" spcFirstLastPara="1" rIns="68575" wrap="square" tIns="34275">
            <a:normAutofit/>
          </a:bodyPr>
          <a:lstStyle>
            <a:lvl1pPr indent="-317500" lvl="0" marL="457200" algn="l">
              <a:lnSpc>
                <a:spcPct val="115000"/>
              </a:lnSpc>
              <a:spcBef>
                <a:spcPts val="0"/>
              </a:spcBef>
              <a:spcAft>
                <a:spcPts val="0"/>
              </a:spcAft>
              <a:buClr>
                <a:schemeClr val="dk1"/>
              </a:buClr>
              <a:buSzPts val="1400"/>
              <a:buChar char="•"/>
              <a:defRPr/>
            </a:lvl1pPr>
            <a:lvl2pPr indent="-317500" lvl="1" marL="914400" algn="l">
              <a:lnSpc>
                <a:spcPct val="115000"/>
              </a:lnSpc>
              <a:spcBef>
                <a:spcPts val="1000"/>
              </a:spcBef>
              <a:spcAft>
                <a:spcPts val="0"/>
              </a:spcAft>
              <a:buClr>
                <a:schemeClr val="dk1"/>
              </a:buClr>
              <a:buSzPts val="1400"/>
              <a:buChar char="–"/>
              <a:defRPr/>
            </a:lvl2pPr>
            <a:lvl3pPr indent="-317500" lvl="2" marL="1371600" algn="l">
              <a:lnSpc>
                <a:spcPct val="115000"/>
              </a:lnSpc>
              <a:spcBef>
                <a:spcPts val="1000"/>
              </a:spcBef>
              <a:spcAft>
                <a:spcPts val="0"/>
              </a:spcAft>
              <a:buClr>
                <a:schemeClr val="dk1"/>
              </a:buClr>
              <a:buSzPts val="1400"/>
              <a:buChar char="•"/>
              <a:defRPr/>
            </a:lvl3pPr>
            <a:lvl4pPr indent="-317500" lvl="3" marL="1828800" algn="l">
              <a:lnSpc>
                <a:spcPct val="115000"/>
              </a:lnSpc>
              <a:spcBef>
                <a:spcPts val="1000"/>
              </a:spcBef>
              <a:spcAft>
                <a:spcPts val="0"/>
              </a:spcAft>
              <a:buClr>
                <a:schemeClr val="dk1"/>
              </a:buClr>
              <a:buSzPts val="1400"/>
              <a:buChar char="–"/>
              <a:defRPr/>
            </a:lvl4pPr>
            <a:lvl5pPr indent="-317500" lvl="4" marL="2286000" algn="l">
              <a:lnSpc>
                <a:spcPct val="115000"/>
              </a:lnSpc>
              <a:spcBef>
                <a:spcPts val="1000"/>
              </a:spcBef>
              <a:spcAft>
                <a:spcPts val="0"/>
              </a:spcAft>
              <a:buClr>
                <a:schemeClr val="dk1"/>
              </a:buClr>
              <a:buSzPts val="1400"/>
              <a:buChar char="»"/>
              <a:defRPr/>
            </a:lvl5pPr>
            <a:lvl6pPr indent="-317500" lvl="5" marL="2743200" algn="l">
              <a:lnSpc>
                <a:spcPct val="115000"/>
              </a:lnSpc>
              <a:spcBef>
                <a:spcPts val="1000"/>
              </a:spcBef>
              <a:spcAft>
                <a:spcPts val="0"/>
              </a:spcAft>
              <a:buClr>
                <a:schemeClr val="dk1"/>
              </a:buClr>
              <a:buSzPts val="1400"/>
              <a:buChar char="•"/>
              <a:defRPr/>
            </a:lvl6pPr>
            <a:lvl7pPr indent="-317500" lvl="6" marL="3200400" algn="l">
              <a:lnSpc>
                <a:spcPct val="115000"/>
              </a:lnSpc>
              <a:spcBef>
                <a:spcPts val="1000"/>
              </a:spcBef>
              <a:spcAft>
                <a:spcPts val="0"/>
              </a:spcAft>
              <a:buClr>
                <a:schemeClr val="dk1"/>
              </a:buClr>
              <a:buSzPts val="1400"/>
              <a:buChar char="•"/>
              <a:defRPr/>
            </a:lvl7pPr>
            <a:lvl8pPr indent="-317500" lvl="7" marL="3657600" algn="l">
              <a:lnSpc>
                <a:spcPct val="115000"/>
              </a:lnSpc>
              <a:spcBef>
                <a:spcPts val="1000"/>
              </a:spcBef>
              <a:spcAft>
                <a:spcPts val="0"/>
              </a:spcAft>
              <a:buClr>
                <a:schemeClr val="dk1"/>
              </a:buClr>
              <a:buSzPts val="1400"/>
              <a:buChar char="•"/>
              <a:defRPr/>
            </a:lvl8pPr>
            <a:lvl9pPr indent="-317500" lvl="8" marL="4114800" algn="l">
              <a:lnSpc>
                <a:spcPct val="115000"/>
              </a:lnSpc>
              <a:spcBef>
                <a:spcPts val="1000"/>
              </a:spcBef>
              <a:spcAft>
                <a:spcPts val="1000"/>
              </a:spcAft>
              <a:buClr>
                <a:schemeClr val="dk1"/>
              </a:buClr>
              <a:buSzPts val="1400"/>
              <a:buChar char="•"/>
              <a:defRPr/>
            </a:lvl9pPr>
          </a:lstStyle>
          <a:p/>
        </p:txBody>
      </p:sp>
      <p:sp>
        <p:nvSpPr>
          <p:cNvPr id="16" name="Google Shape;16;p3"/>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3 Content" type="secHead">
  <p:cSld name="SECTION_HEADER">
    <p:spTree>
      <p:nvGrpSpPr>
        <p:cNvPr id="17" name="Shape 17"/>
        <p:cNvGrpSpPr/>
        <p:nvPr/>
      </p:nvGrpSpPr>
      <p:grpSpPr>
        <a:xfrm>
          <a:off x="0" y="0"/>
          <a:ext cx="0" cy="0"/>
          <a:chOff x="0" y="0"/>
          <a:chExt cx="0" cy="0"/>
        </a:xfrm>
      </p:grpSpPr>
      <p:sp>
        <p:nvSpPr>
          <p:cNvPr id="18" name="Google Shape;18;p4"/>
          <p:cNvSpPr/>
          <p:nvPr/>
        </p:nvSpPr>
        <p:spPr>
          <a:xfrm>
            <a:off x="0" y="0"/>
            <a:ext cx="3191700" cy="4927800"/>
          </a:xfrm>
          <a:prstGeom prst="rect">
            <a:avLst/>
          </a:prstGeom>
          <a:solidFill>
            <a:srgbClr val="181C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 name="Google Shape;19;p4"/>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0" name="Google Shape;20;p4"/>
          <p:cNvSpPr txBox="1"/>
          <p:nvPr>
            <p:ph type="title"/>
          </p:nvPr>
        </p:nvSpPr>
        <p:spPr>
          <a:xfrm>
            <a:off x="277025" y="344075"/>
            <a:ext cx="2914800" cy="913800"/>
          </a:xfrm>
          <a:prstGeom prst="rect">
            <a:avLst/>
          </a:prstGeom>
        </p:spPr>
        <p:txBody>
          <a:bodyPr anchorCtr="0" anchor="t" bIns="34275" lIns="68575" spcFirstLastPara="1" rIns="68575" wrap="square" tIns="34275">
            <a:noAutofit/>
          </a:bodyPr>
          <a:lstStyle>
            <a:lvl1pPr lvl="0">
              <a:spcBef>
                <a:spcPts val="0"/>
              </a:spcBef>
              <a:spcAft>
                <a:spcPts val="0"/>
              </a:spcAft>
              <a:buClr>
                <a:schemeClr val="lt1"/>
              </a:buClr>
              <a:buSzPts val="2200"/>
              <a:buNone/>
              <a:defRPr sz="22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4"/>
          <p:cNvSpPr txBox="1"/>
          <p:nvPr>
            <p:ph idx="1" type="subTitle"/>
          </p:nvPr>
        </p:nvSpPr>
        <p:spPr>
          <a:xfrm>
            <a:off x="204500" y="1423350"/>
            <a:ext cx="2987100" cy="3322500"/>
          </a:xfrm>
          <a:prstGeom prst="rect">
            <a:avLst/>
          </a:prstGeom>
        </p:spPr>
        <p:txBody>
          <a:bodyPr anchorCtr="0" anchor="t" bIns="34275" lIns="68575" spcFirstLastPara="1" rIns="68575" wrap="square" tIns="34275">
            <a:normAutofit/>
          </a:bodyPr>
          <a:lstStyle>
            <a:lvl1pPr lvl="0">
              <a:spcBef>
                <a:spcPts val="0"/>
              </a:spcBef>
              <a:spcAft>
                <a:spcPts val="0"/>
              </a:spcAft>
              <a:buClr>
                <a:schemeClr val="lt1"/>
              </a:buClr>
              <a:buSzPts val="2200"/>
              <a:buNone/>
              <a:defRPr b="1" sz="2200">
                <a:solidFill>
                  <a:schemeClr val="lt1"/>
                </a:solidFill>
              </a:defRPr>
            </a:lvl1pPr>
            <a:lvl2pPr lvl="1">
              <a:spcBef>
                <a:spcPts val="1000"/>
              </a:spcBef>
              <a:spcAft>
                <a:spcPts val="0"/>
              </a:spcAft>
              <a:buSzPts val="2200"/>
              <a:buNone/>
              <a:defRPr/>
            </a:lvl2pPr>
            <a:lvl3pPr lvl="2">
              <a:spcBef>
                <a:spcPts val="1000"/>
              </a:spcBef>
              <a:spcAft>
                <a:spcPts val="0"/>
              </a:spcAft>
              <a:buSzPts val="2000"/>
              <a:buNone/>
              <a:defRPr/>
            </a:lvl3pPr>
            <a:lvl4pPr lvl="3">
              <a:spcBef>
                <a:spcPts val="1000"/>
              </a:spcBef>
              <a:spcAft>
                <a:spcPts val="0"/>
              </a:spcAft>
              <a:buSzPts val="1800"/>
              <a:buNone/>
              <a:defRPr/>
            </a:lvl4pPr>
            <a:lvl5pPr lvl="4">
              <a:spcBef>
                <a:spcPts val="1000"/>
              </a:spcBef>
              <a:spcAft>
                <a:spcPts val="0"/>
              </a:spcAft>
              <a:buSzPts val="1600"/>
              <a:buNone/>
              <a:defRPr/>
            </a:lvl5pPr>
            <a:lvl6pPr lvl="5">
              <a:spcBef>
                <a:spcPts val="1000"/>
              </a:spcBef>
              <a:spcAft>
                <a:spcPts val="0"/>
              </a:spcAft>
              <a:buSzPts val="1400"/>
              <a:buNone/>
              <a:defRPr/>
            </a:lvl6pPr>
            <a:lvl7pPr lvl="6">
              <a:spcBef>
                <a:spcPts val="1000"/>
              </a:spcBef>
              <a:spcAft>
                <a:spcPts val="0"/>
              </a:spcAft>
              <a:buSzPts val="1400"/>
              <a:buNone/>
              <a:defRPr/>
            </a:lvl7pPr>
            <a:lvl8pPr lvl="7">
              <a:spcBef>
                <a:spcPts val="1000"/>
              </a:spcBef>
              <a:spcAft>
                <a:spcPts val="0"/>
              </a:spcAft>
              <a:buSzPts val="1400"/>
              <a:buNone/>
              <a:defRPr/>
            </a:lvl8pPr>
            <a:lvl9pPr lvl="8">
              <a:spcBef>
                <a:spcPts val="1000"/>
              </a:spcBef>
              <a:spcAft>
                <a:spcPts val="1000"/>
              </a:spcAft>
              <a:buSzPts val="1400"/>
              <a:buNone/>
              <a:defRPr/>
            </a:lvl9pPr>
          </a:lstStyle>
          <a:p/>
        </p:txBody>
      </p:sp>
      <p:sp>
        <p:nvSpPr>
          <p:cNvPr id="22" name="Google Shape;22;p4"/>
          <p:cNvSpPr txBox="1"/>
          <p:nvPr>
            <p:ph idx="2" type="body"/>
          </p:nvPr>
        </p:nvSpPr>
        <p:spPr>
          <a:xfrm>
            <a:off x="3345900" y="412575"/>
            <a:ext cx="5537400" cy="44187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5"/>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Google Shape;25;p5"/>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2/3 Content">
  <p:cSld name="CUSTOM">
    <p:spTree>
      <p:nvGrpSpPr>
        <p:cNvPr id="26" name="Shape 26"/>
        <p:cNvGrpSpPr/>
        <p:nvPr/>
      </p:nvGrpSpPr>
      <p:grpSpPr>
        <a:xfrm>
          <a:off x="0" y="0"/>
          <a:ext cx="0" cy="0"/>
          <a:chOff x="0" y="0"/>
          <a:chExt cx="0" cy="0"/>
        </a:xfrm>
      </p:grpSpPr>
      <p:sp>
        <p:nvSpPr>
          <p:cNvPr id="27" name="Google Shape;27;p6"/>
          <p:cNvSpPr txBox="1"/>
          <p:nvPr>
            <p:ph type="title"/>
          </p:nvPr>
        </p:nvSpPr>
        <p:spPr>
          <a:xfrm>
            <a:off x="3328025" y="147875"/>
            <a:ext cx="5551800" cy="759900"/>
          </a:xfrm>
          <a:prstGeom prst="rect">
            <a:avLst/>
          </a:prstGeom>
          <a:noFill/>
          <a:ln>
            <a:noFill/>
          </a:ln>
        </p:spPr>
        <p:txBody>
          <a:bodyPr anchorCtr="0" anchor="ctr" bIns="34275" lIns="68575" spcFirstLastPara="1" rIns="68575" wrap="square" tIns="34275">
            <a:normAutofit/>
          </a:bodyPr>
          <a:lstStyle>
            <a:lvl1pPr lvl="0" marR="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
        <p:nvSpPr>
          <p:cNvPr id="28" name="Google Shape;28;p6"/>
          <p:cNvSpPr/>
          <p:nvPr>
            <p:ph idx="2" type="pic"/>
          </p:nvPr>
        </p:nvSpPr>
        <p:spPr>
          <a:xfrm>
            <a:off x="0" y="0"/>
            <a:ext cx="3063300" cy="4913100"/>
          </a:xfrm>
          <a:prstGeom prst="rect">
            <a:avLst/>
          </a:prstGeom>
          <a:noFill/>
          <a:ln>
            <a:noFill/>
          </a:ln>
        </p:spPr>
      </p:sp>
      <p:sp>
        <p:nvSpPr>
          <p:cNvPr id="29" name="Google Shape;29;p6"/>
          <p:cNvSpPr txBox="1"/>
          <p:nvPr>
            <p:ph idx="1" type="body"/>
          </p:nvPr>
        </p:nvSpPr>
        <p:spPr>
          <a:xfrm>
            <a:off x="3328075" y="975600"/>
            <a:ext cx="5551800" cy="3783300"/>
          </a:xfrm>
          <a:prstGeom prst="rect">
            <a:avLst/>
          </a:prstGeom>
        </p:spPr>
        <p:txBody>
          <a:bodyPr anchorCtr="0" anchor="t" bIns="34275" lIns="68575" spcFirstLastPara="1" rIns="68575" wrap="square" tIns="34275">
            <a:normAutofit/>
          </a:bodyPr>
          <a:lstStyle>
            <a:lvl1pPr indent="-381000" lvl="0" marL="457200">
              <a:spcBef>
                <a:spcPts val="100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0"/>
              </a:spcAft>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2/3 Content">
  <p:cSld name="CUSTOM_1">
    <p:spTree>
      <p:nvGrpSpPr>
        <p:cNvPr id="30" name="Shape 30"/>
        <p:cNvGrpSpPr/>
        <p:nvPr/>
      </p:nvGrpSpPr>
      <p:grpSpPr>
        <a:xfrm>
          <a:off x="0" y="0"/>
          <a:ext cx="0" cy="0"/>
          <a:chOff x="0" y="0"/>
          <a:chExt cx="0" cy="0"/>
        </a:xfrm>
      </p:grpSpPr>
      <p:sp>
        <p:nvSpPr>
          <p:cNvPr id="31" name="Google Shape;31;p7"/>
          <p:cNvSpPr/>
          <p:nvPr>
            <p:ph idx="2" type="pic"/>
          </p:nvPr>
        </p:nvSpPr>
        <p:spPr>
          <a:xfrm>
            <a:off x="6080700" y="0"/>
            <a:ext cx="3063300" cy="4899900"/>
          </a:xfrm>
          <a:prstGeom prst="rect">
            <a:avLst/>
          </a:prstGeom>
          <a:noFill/>
          <a:ln>
            <a:noFill/>
          </a:ln>
        </p:spPr>
      </p:sp>
      <p:sp>
        <p:nvSpPr>
          <p:cNvPr id="32" name="Google Shape;32;p7"/>
          <p:cNvSpPr txBox="1"/>
          <p:nvPr>
            <p:ph idx="1" type="body"/>
          </p:nvPr>
        </p:nvSpPr>
        <p:spPr>
          <a:xfrm>
            <a:off x="376550" y="1006425"/>
            <a:ext cx="5373000" cy="38937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33" name="Google Shape;33;p7"/>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marR="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olumn Content">
  <p:cSld name="CUSTOM_2">
    <p:spTree>
      <p:nvGrpSpPr>
        <p:cNvPr id="34" name="Shape 34"/>
        <p:cNvGrpSpPr/>
        <p:nvPr/>
      </p:nvGrpSpPr>
      <p:grpSpPr>
        <a:xfrm>
          <a:off x="0" y="0"/>
          <a:ext cx="0" cy="0"/>
          <a:chOff x="0" y="0"/>
          <a:chExt cx="0" cy="0"/>
        </a:xfrm>
      </p:grpSpPr>
      <p:sp>
        <p:nvSpPr>
          <p:cNvPr id="35" name="Google Shape;35;p8"/>
          <p:cNvSpPr txBox="1"/>
          <p:nvPr>
            <p:ph type="title"/>
          </p:nvPr>
        </p:nvSpPr>
        <p:spPr>
          <a:xfrm>
            <a:off x="376550" y="147875"/>
            <a:ext cx="8310000" cy="759900"/>
          </a:xfrm>
          <a:prstGeom prst="rect">
            <a:avLst/>
          </a:prstGeom>
        </p:spPr>
        <p:txBody>
          <a:bodyPr anchorCtr="0" anchor="t" bIns="34275" lIns="68575" spcFirstLastPara="1" rIns="68575" wrap="square" tIns="34275">
            <a:normAutofit/>
          </a:bodyPr>
          <a:lstStyle>
            <a:lvl1pPr lvl="0">
              <a:spcBef>
                <a:spcPts val="0"/>
              </a:spcBef>
              <a:spcAft>
                <a:spcPts val="0"/>
              </a:spcAft>
              <a:buSzPts val="30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 name="Google Shape;36;p8"/>
          <p:cNvSpPr txBox="1"/>
          <p:nvPr>
            <p:ph idx="1" type="body"/>
          </p:nvPr>
        </p:nvSpPr>
        <p:spPr>
          <a:xfrm>
            <a:off x="457200" y="875325"/>
            <a:ext cx="3602400" cy="35679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37" name="Google Shape;37;p8"/>
          <p:cNvSpPr txBox="1"/>
          <p:nvPr>
            <p:ph idx="2" type="body"/>
          </p:nvPr>
        </p:nvSpPr>
        <p:spPr>
          <a:xfrm>
            <a:off x="4990000" y="875325"/>
            <a:ext cx="3696900" cy="36861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cxnSp>
        <p:nvCxnSpPr>
          <p:cNvPr id="38" name="Google Shape;38;p8"/>
          <p:cNvCxnSpPr/>
          <p:nvPr/>
        </p:nvCxnSpPr>
        <p:spPr>
          <a:xfrm>
            <a:off x="4572000" y="1052325"/>
            <a:ext cx="0" cy="3390900"/>
          </a:xfrm>
          <a:prstGeom prst="straightConnector1">
            <a:avLst/>
          </a:prstGeom>
          <a:noFill/>
          <a:ln cap="flat" cmpd="sng" w="9525">
            <a:solidFill>
              <a:srgbClr val="C51A41"/>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9"/>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41" name="Google Shape;41;p9"/>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1000"/>
              </a:spcBef>
              <a:spcAft>
                <a:spcPts val="0"/>
              </a:spcAft>
              <a:buClr>
                <a:srgbClr val="888888"/>
              </a:buClr>
              <a:buSzPts val="2800"/>
              <a:buNone/>
              <a:defRPr>
                <a:solidFill>
                  <a:srgbClr val="888888"/>
                </a:solidFill>
              </a:defRPr>
            </a:lvl2pPr>
            <a:lvl3pPr lvl="2" algn="ctr">
              <a:spcBef>
                <a:spcPts val="1000"/>
              </a:spcBef>
              <a:spcAft>
                <a:spcPts val="0"/>
              </a:spcAft>
              <a:buClr>
                <a:srgbClr val="888888"/>
              </a:buClr>
              <a:buSzPts val="2400"/>
              <a:buNone/>
              <a:defRPr>
                <a:solidFill>
                  <a:srgbClr val="888888"/>
                </a:solidFill>
              </a:defRPr>
            </a:lvl3pPr>
            <a:lvl4pPr lvl="3" algn="ctr">
              <a:spcBef>
                <a:spcPts val="1000"/>
              </a:spcBef>
              <a:spcAft>
                <a:spcPts val="0"/>
              </a:spcAft>
              <a:buClr>
                <a:srgbClr val="888888"/>
              </a:buClr>
              <a:buSzPts val="2000"/>
              <a:buNone/>
              <a:defRPr>
                <a:solidFill>
                  <a:srgbClr val="888888"/>
                </a:solidFill>
              </a:defRPr>
            </a:lvl4pPr>
            <a:lvl5pPr lvl="4" algn="ctr">
              <a:spcBef>
                <a:spcPts val="1000"/>
              </a:spcBef>
              <a:spcAft>
                <a:spcPts val="0"/>
              </a:spcAft>
              <a:buClr>
                <a:srgbClr val="888888"/>
              </a:buClr>
              <a:buSzPts val="2000"/>
              <a:buNone/>
              <a:defRPr>
                <a:solidFill>
                  <a:srgbClr val="888888"/>
                </a:solidFill>
              </a:defRPr>
            </a:lvl5pPr>
            <a:lvl6pPr lvl="5" algn="ctr">
              <a:spcBef>
                <a:spcPts val="1000"/>
              </a:spcBef>
              <a:spcAft>
                <a:spcPts val="0"/>
              </a:spcAft>
              <a:buClr>
                <a:srgbClr val="888888"/>
              </a:buClr>
              <a:buSzPts val="2000"/>
              <a:buNone/>
              <a:defRPr>
                <a:solidFill>
                  <a:srgbClr val="888888"/>
                </a:solidFill>
              </a:defRPr>
            </a:lvl6pPr>
            <a:lvl7pPr lvl="6" algn="ctr">
              <a:spcBef>
                <a:spcPts val="1000"/>
              </a:spcBef>
              <a:spcAft>
                <a:spcPts val="0"/>
              </a:spcAft>
              <a:buClr>
                <a:srgbClr val="888888"/>
              </a:buClr>
              <a:buSzPts val="2000"/>
              <a:buNone/>
              <a:defRPr>
                <a:solidFill>
                  <a:srgbClr val="888888"/>
                </a:solidFill>
              </a:defRPr>
            </a:lvl7pPr>
            <a:lvl8pPr lvl="7" algn="ctr">
              <a:spcBef>
                <a:spcPts val="1000"/>
              </a:spcBef>
              <a:spcAft>
                <a:spcPts val="0"/>
              </a:spcAft>
              <a:buClr>
                <a:srgbClr val="888888"/>
              </a:buClr>
              <a:buSzPts val="2000"/>
              <a:buNone/>
              <a:defRPr>
                <a:solidFill>
                  <a:srgbClr val="888888"/>
                </a:solidFill>
              </a:defRPr>
            </a:lvl8pPr>
            <a:lvl9pPr lvl="8" algn="ctr">
              <a:spcBef>
                <a:spcPts val="1000"/>
              </a:spcBef>
              <a:spcAft>
                <a:spcPts val="1000"/>
              </a:spcAft>
              <a:buClr>
                <a:srgbClr val="888888"/>
              </a:buClr>
              <a:buSzPts val="2000"/>
              <a:buNone/>
              <a:defRPr>
                <a:solidFill>
                  <a:srgbClr val="888888"/>
                </a:solidFill>
              </a:defRPr>
            </a:lvl9pPr>
          </a:lstStyle>
          <a:p/>
        </p:txBody>
      </p:sp>
      <p:sp>
        <p:nvSpPr>
          <p:cNvPr id="42" name="Google Shape;42;p9"/>
          <p:cNvSpPr txBox="1"/>
          <p:nvPr>
            <p:ph idx="12" type="sldNum"/>
          </p:nvPr>
        </p:nvSpPr>
        <p:spPr>
          <a:xfrm>
            <a:off x="7982222" y="4886307"/>
            <a:ext cx="704700" cy="273900"/>
          </a:xfrm>
          <a:prstGeom prst="rect">
            <a:avLst/>
          </a:prstGeom>
          <a:noFill/>
          <a:ln>
            <a:noFill/>
          </a:ln>
        </p:spPr>
        <p:txBody>
          <a:bodyPr anchorCtr="0" anchor="t" bIns="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 name="Shape 43"/>
        <p:cNvGrpSpPr/>
        <p:nvPr/>
      </p:nvGrpSpPr>
      <p:grpSpPr>
        <a:xfrm>
          <a:off x="0" y="0"/>
          <a:ext cx="0" cy="0"/>
          <a:chOff x="0" y="0"/>
          <a:chExt cx="0" cy="0"/>
        </a:xfrm>
      </p:grpSpPr>
      <p:sp>
        <p:nvSpPr>
          <p:cNvPr id="44" name="Google Shape;44;p10"/>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lvl1pPr lvl="0">
              <a:spcBef>
                <a:spcPts val="0"/>
              </a:spcBef>
              <a:spcAft>
                <a:spcPts val="0"/>
              </a:spcAft>
              <a:buSzPts val="30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 name="Google Shape;45;p10"/>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46" name="Google Shape;46;p10"/>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7" name="Shape 4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rot="5400000">
            <a:off x="4455600" y="455028"/>
            <a:ext cx="232800" cy="9144000"/>
          </a:xfrm>
          <a:prstGeom prst="rect">
            <a:avLst/>
          </a:prstGeom>
          <a:solidFill>
            <a:srgbClr val="C51A4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 name="Google Shape;7;p1"/>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marR="0" rtl="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
        <p:nvSpPr>
          <p:cNvPr id="8" name="Google Shape;8;p1"/>
          <p:cNvSpPr txBox="1"/>
          <p:nvPr>
            <p:ph idx="1" type="body"/>
          </p:nvPr>
        </p:nvSpPr>
        <p:spPr>
          <a:xfrm>
            <a:off x="376850" y="987925"/>
            <a:ext cx="8310000" cy="3607500"/>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15000"/>
              </a:lnSpc>
              <a:spcBef>
                <a:spcPts val="0"/>
              </a:spcBef>
              <a:spcAft>
                <a:spcPts val="0"/>
              </a:spcAft>
              <a:buClr>
                <a:schemeClr val="dk1"/>
              </a:buClr>
              <a:buSzPts val="2400"/>
              <a:buFont typeface="Open Sans"/>
              <a:buChar char="•"/>
              <a:defRPr i="0" sz="2400" u="none" cap="none" strike="noStrike">
                <a:solidFill>
                  <a:schemeClr val="dk1"/>
                </a:solidFill>
                <a:latin typeface="Open Sans"/>
                <a:ea typeface="Open Sans"/>
                <a:cs typeface="Open Sans"/>
                <a:sym typeface="Open Sans"/>
              </a:defRPr>
            </a:lvl1pPr>
            <a:lvl2pPr indent="-368300" lvl="1" marL="914400" marR="0" rtl="0" algn="l">
              <a:lnSpc>
                <a:spcPct val="115000"/>
              </a:lnSpc>
              <a:spcBef>
                <a:spcPts val="1000"/>
              </a:spcBef>
              <a:spcAft>
                <a:spcPts val="0"/>
              </a:spcAft>
              <a:buClr>
                <a:schemeClr val="dk1"/>
              </a:buClr>
              <a:buSzPts val="2200"/>
              <a:buFont typeface="Open Sans"/>
              <a:buChar char="–"/>
              <a:defRPr i="0" sz="2200" u="none" cap="none" strike="noStrike">
                <a:solidFill>
                  <a:schemeClr val="dk1"/>
                </a:solidFill>
                <a:latin typeface="Open Sans"/>
                <a:ea typeface="Open Sans"/>
                <a:cs typeface="Open Sans"/>
                <a:sym typeface="Open Sans"/>
              </a:defRPr>
            </a:lvl2pPr>
            <a:lvl3pPr indent="-355600" lvl="2" marL="1371600" marR="0" rtl="0" algn="l">
              <a:lnSpc>
                <a:spcPct val="115000"/>
              </a:lnSpc>
              <a:spcBef>
                <a:spcPts val="10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3pPr>
            <a:lvl4pPr indent="-342900" lvl="3" marL="1828800" marR="0" rtl="0" algn="l">
              <a:lnSpc>
                <a:spcPct val="115000"/>
              </a:lnSpc>
              <a:spcBef>
                <a:spcPts val="1000"/>
              </a:spcBef>
              <a:spcAft>
                <a:spcPts val="0"/>
              </a:spcAft>
              <a:buClr>
                <a:schemeClr val="dk1"/>
              </a:buClr>
              <a:buSzPts val="1800"/>
              <a:buFont typeface="Open Sans"/>
              <a:buChar char="–"/>
              <a:defRPr i="0" sz="1800" u="none" cap="none" strike="noStrike">
                <a:solidFill>
                  <a:schemeClr val="dk1"/>
                </a:solidFill>
                <a:latin typeface="Open Sans"/>
                <a:ea typeface="Open Sans"/>
                <a:cs typeface="Open Sans"/>
                <a:sym typeface="Open Sans"/>
              </a:defRPr>
            </a:lvl4pPr>
            <a:lvl5pPr indent="-330200" lvl="4" marL="2286000" marR="0" rtl="0" algn="l">
              <a:lnSpc>
                <a:spcPct val="115000"/>
              </a:lnSpc>
              <a:spcBef>
                <a:spcPts val="1000"/>
              </a:spcBef>
              <a:spcAft>
                <a:spcPts val="0"/>
              </a:spcAft>
              <a:buClr>
                <a:schemeClr val="dk1"/>
              </a:buClr>
              <a:buSzPts val="1600"/>
              <a:buFont typeface="Open Sans"/>
              <a:buChar char="»"/>
              <a:defRPr i="0" sz="16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1000"/>
              </a:spcBef>
              <a:spcAft>
                <a:spcPts val="100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9pPr>
          </a:lstStyle>
          <a:p/>
        </p:txBody>
      </p:sp>
      <p:sp>
        <p:nvSpPr>
          <p:cNvPr id="9" name="Google Shape;9;p1"/>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i="0" sz="1000" u="none" cap="none" strike="noStrike">
                <a:solidFill>
                  <a:srgbClr val="888888"/>
                </a:solidFill>
                <a:latin typeface="Open Sans Light"/>
                <a:ea typeface="Open Sans Light"/>
                <a:cs typeface="Open Sans Light"/>
                <a:sym typeface="Open Sans Light"/>
              </a:defRPr>
            </a:lvl1pPr>
            <a:lvl2pPr indent="0" lvl="1" marL="0" marR="0" rtl="0" algn="r">
              <a:spcBef>
                <a:spcPts val="0"/>
              </a:spcBef>
              <a:buNone/>
              <a:defRPr i="0" sz="1000" u="none" cap="none" strike="noStrike">
                <a:solidFill>
                  <a:srgbClr val="888888"/>
                </a:solidFill>
                <a:latin typeface="Open Sans Light"/>
                <a:ea typeface="Open Sans Light"/>
                <a:cs typeface="Open Sans Light"/>
                <a:sym typeface="Open Sans Light"/>
              </a:defRPr>
            </a:lvl2pPr>
            <a:lvl3pPr indent="0" lvl="2" marL="0" marR="0" rtl="0" algn="r">
              <a:spcBef>
                <a:spcPts val="0"/>
              </a:spcBef>
              <a:buNone/>
              <a:defRPr i="0" sz="1000" u="none" cap="none" strike="noStrike">
                <a:solidFill>
                  <a:srgbClr val="888888"/>
                </a:solidFill>
                <a:latin typeface="Open Sans Light"/>
                <a:ea typeface="Open Sans Light"/>
                <a:cs typeface="Open Sans Light"/>
                <a:sym typeface="Open Sans Light"/>
              </a:defRPr>
            </a:lvl3pPr>
            <a:lvl4pPr indent="0" lvl="3" marL="0" marR="0" rtl="0" algn="r">
              <a:spcBef>
                <a:spcPts val="0"/>
              </a:spcBef>
              <a:buNone/>
              <a:defRPr i="0" sz="1000" u="none" cap="none" strike="noStrike">
                <a:solidFill>
                  <a:srgbClr val="888888"/>
                </a:solidFill>
                <a:latin typeface="Open Sans Light"/>
                <a:ea typeface="Open Sans Light"/>
                <a:cs typeface="Open Sans Light"/>
                <a:sym typeface="Open Sans Light"/>
              </a:defRPr>
            </a:lvl4pPr>
            <a:lvl5pPr indent="0" lvl="4" marL="0" marR="0" rtl="0" algn="r">
              <a:spcBef>
                <a:spcPts val="0"/>
              </a:spcBef>
              <a:buNone/>
              <a:defRPr i="0" sz="1000" u="none" cap="none" strike="noStrike">
                <a:solidFill>
                  <a:srgbClr val="888888"/>
                </a:solidFill>
                <a:latin typeface="Open Sans Light"/>
                <a:ea typeface="Open Sans Light"/>
                <a:cs typeface="Open Sans Light"/>
                <a:sym typeface="Open Sans Light"/>
              </a:defRPr>
            </a:lvl5pPr>
            <a:lvl6pPr indent="0" lvl="5" marL="0" marR="0" rtl="0" algn="r">
              <a:spcBef>
                <a:spcPts val="0"/>
              </a:spcBef>
              <a:buNone/>
              <a:defRPr i="0" sz="1000" u="none" cap="none" strike="noStrike">
                <a:solidFill>
                  <a:srgbClr val="888888"/>
                </a:solidFill>
                <a:latin typeface="Open Sans Light"/>
                <a:ea typeface="Open Sans Light"/>
                <a:cs typeface="Open Sans Light"/>
                <a:sym typeface="Open Sans Light"/>
              </a:defRPr>
            </a:lvl6pPr>
            <a:lvl7pPr indent="0" lvl="6" marL="0" marR="0" rtl="0" algn="r">
              <a:spcBef>
                <a:spcPts val="0"/>
              </a:spcBef>
              <a:buNone/>
              <a:defRPr i="0" sz="1000" u="none" cap="none" strike="noStrike">
                <a:solidFill>
                  <a:srgbClr val="888888"/>
                </a:solidFill>
                <a:latin typeface="Open Sans Light"/>
                <a:ea typeface="Open Sans Light"/>
                <a:cs typeface="Open Sans Light"/>
                <a:sym typeface="Open Sans Light"/>
              </a:defRPr>
            </a:lvl7pPr>
            <a:lvl8pPr indent="0" lvl="7" marL="0" marR="0" rtl="0" algn="r">
              <a:spcBef>
                <a:spcPts val="0"/>
              </a:spcBef>
              <a:buNone/>
              <a:defRPr i="0" sz="1000" u="none" cap="none" strike="noStrike">
                <a:solidFill>
                  <a:srgbClr val="888888"/>
                </a:solidFill>
                <a:latin typeface="Open Sans Light"/>
                <a:ea typeface="Open Sans Light"/>
                <a:cs typeface="Open Sans Light"/>
                <a:sym typeface="Open Sans Light"/>
              </a:defRPr>
            </a:lvl8pPr>
            <a:lvl9pPr indent="0" lvl="8" marL="0" marR="0" rtl="0" algn="r">
              <a:spcBef>
                <a:spcPts val="0"/>
              </a:spcBef>
              <a:buNone/>
              <a:defRPr i="0" sz="10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GB"/>
              <a:t>‹#›</a:t>
            </a:fld>
            <a:endParaRPr/>
          </a:p>
        </p:txBody>
      </p:sp>
      <p:sp>
        <p:nvSpPr>
          <p:cNvPr id="10" name="Google Shape;10;p1"/>
          <p:cNvSpPr txBox="1"/>
          <p:nvPr/>
        </p:nvSpPr>
        <p:spPr>
          <a:xfrm>
            <a:off x="6474250" y="4938050"/>
            <a:ext cx="2670000" cy="1617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GB" sz="600" u="none" cap="none" strike="noStrike">
                <a:solidFill>
                  <a:srgbClr val="FFFFFF"/>
                </a:solidFill>
                <a:latin typeface="Arial"/>
                <a:ea typeface="Arial"/>
                <a:cs typeface="Arial"/>
                <a:sym typeface="Arial"/>
              </a:rPr>
              <a:t>Copyright © 202</a:t>
            </a:r>
            <a:r>
              <a:rPr lang="en-GB" sz="600">
                <a:solidFill>
                  <a:srgbClr val="FFFFFF"/>
                </a:solidFill>
              </a:rPr>
              <a:t>6</a:t>
            </a:r>
            <a:r>
              <a:rPr b="0" i="0" lang="en-GB" sz="600" u="none" cap="none" strike="noStrike">
                <a:solidFill>
                  <a:srgbClr val="FFFFFF"/>
                </a:solidFill>
                <a:latin typeface="Arial"/>
                <a:ea typeface="Arial"/>
                <a:cs typeface="Arial"/>
                <a:sym typeface="Arial"/>
              </a:rPr>
              <a:t xml:space="preserve"> Nanyang Technological University. All rights reserved. </a:t>
            </a:r>
            <a:endParaRPr sz="6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pic>
        <p:nvPicPr>
          <p:cNvPr descr="A building with a balcony and trees  Description automatically generated" id="53" name="Google Shape;53;p12"/>
          <p:cNvPicPr preferRelativeResize="0"/>
          <p:nvPr/>
        </p:nvPicPr>
        <p:blipFill rotWithShape="1">
          <a:blip r:embed="rId3">
            <a:alphaModFix/>
          </a:blip>
          <a:srcRect b="0" l="0" r="33271" t="0"/>
          <a:stretch/>
        </p:blipFill>
        <p:spPr>
          <a:xfrm>
            <a:off x="4629241" y="0"/>
            <a:ext cx="4572001" cy="5143501"/>
          </a:xfrm>
          <a:prstGeom prst="rect">
            <a:avLst/>
          </a:prstGeom>
          <a:noFill/>
          <a:ln>
            <a:noFill/>
          </a:ln>
        </p:spPr>
      </p:pic>
      <p:sp>
        <p:nvSpPr>
          <p:cNvPr id="54" name="Google Shape;54;p12"/>
          <p:cNvSpPr/>
          <p:nvPr/>
        </p:nvSpPr>
        <p:spPr>
          <a:xfrm>
            <a:off x="4629240" y="4339244"/>
            <a:ext cx="4572000" cy="804300"/>
          </a:xfrm>
          <a:prstGeom prst="rect">
            <a:avLst/>
          </a:prstGeom>
          <a:solidFill>
            <a:srgbClr val="181C62">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5" name="Google Shape;55;p12"/>
          <p:cNvSpPr/>
          <p:nvPr/>
        </p:nvSpPr>
        <p:spPr>
          <a:xfrm>
            <a:off x="0" y="4339244"/>
            <a:ext cx="4629300" cy="804300"/>
          </a:xfrm>
          <a:prstGeom prst="rect">
            <a:avLst/>
          </a:prstGeom>
          <a:solidFill>
            <a:srgbClr val="181C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 name="Google Shape;56;p12"/>
          <p:cNvSpPr/>
          <p:nvPr/>
        </p:nvSpPr>
        <p:spPr>
          <a:xfrm>
            <a:off x="1" y="0"/>
            <a:ext cx="342900" cy="5143500"/>
          </a:xfrm>
          <a:prstGeom prst="rect">
            <a:avLst/>
          </a:prstGeom>
          <a:solidFill>
            <a:srgbClr val="C51A4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7" name="Google Shape;57;p12"/>
          <p:cNvSpPr txBox="1"/>
          <p:nvPr/>
        </p:nvSpPr>
        <p:spPr>
          <a:xfrm>
            <a:off x="565475" y="1649875"/>
            <a:ext cx="3631800" cy="996900"/>
          </a:xfrm>
          <a:prstGeom prst="rect">
            <a:avLst/>
          </a:prstGeom>
          <a:noFill/>
          <a:ln>
            <a:noFill/>
          </a:ln>
        </p:spPr>
        <p:txBody>
          <a:bodyPr anchorCtr="0" anchor="ctr" bIns="34275" lIns="67500" spcFirstLastPara="1" rIns="68575" wrap="square" tIns="34275">
            <a:noAutofit/>
          </a:bodyPr>
          <a:lstStyle/>
          <a:p>
            <a:pPr indent="0" lvl="0" marL="0" marR="0" rtl="0" algn="l">
              <a:lnSpc>
                <a:spcPct val="115000"/>
              </a:lnSpc>
              <a:spcBef>
                <a:spcPts val="0"/>
              </a:spcBef>
              <a:spcAft>
                <a:spcPts val="0"/>
              </a:spcAft>
              <a:buClr>
                <a:srgbClr val="181C62"/>
              </a:buClr>
              <a:buSzPts val="3000"/>
              <a:buFont typeface="Open Sans Light"/>
              <a:buNone/>
            </a:pPr>
            <a:r>
              <a:rPr lang="en-GB" sz="2400">
                <a:solidFill>
                  <a:srgbClr val="181C62"/>
                </a:solidFill>
                <a:latin typeface="Open Sans Light"/>
                <a:ea typeface="Open Sans Light"/>
                <a:cs typeface="Open Sans Light"/>
                <a:sym typeface="Open Sans Light"/>
              </a:rPr>
              <a:t>(SCTP) Advanced Professional Certificate</a:t>
            </a:r>
            <a:endParaRPr sz="2400"/>
          </a:p>
        </p:txBody>
      </p:sp>
      <p:sp>
        <p:nvSpPr>
          <p:cNvPr id="58" name="Google Shape;58;p12"/>
          <p:cNvSpPr txBox="1"/>
          <p:nvPr/>
        </p:nvSpPr>
        <p:spPr>
          <a:xfrm>
            <a:off x="562516" y="2571750"/>
            <a:ext cx="3892200" cy="604500"/>
          </a:xfrm>
          <a:prstGeom prst="rect">
            <a:avLst/>
          </a:prstGeom>
          <a:noFill/>
          <a:ln>
            <a:noFill/>
          </a:ln>
        </p:spPr>
        <p:txBody>
          <a:bodyPr anchorCtr="0" anchor="ctr" bIns="34275" lIns="67500" spcFirstLastPara="1" rIns="68575" wrap="square" tIns="34275">
            <a:normAutofit/>
          </a:bodyPr>
          <a:lstStyle/>
          <a:p>
            <a:pPr indent="0" lvl="0" marL="0" marR="0" rtl="0" algn="l">
              <a:lnSpc>
                <a:spcPct val="100000"/>
              </a:lnSpc>
              <a:spcBef>
                <a:spcPts val="0"/>
              </a:spcBef>
              <a:spcAft>
                <a:spcPts val="0"/>
              </a:spcAft>
              <a:buClr>
                <a:srgbClr val="181C62"/>
              </a:buClr>
              <a:buSzPts val="1500"/>
              <a:buFont typeface="Open Sans"/>
              <a:buNone/>
            </a:pPr>
            <a:r>
              <a:t/>
            </a:r>
            <a:endParaRPr sz="1100"/>
          </a:p>
          <a:p>
            <a:pPr indent="0" lvl="0" marL="0" marR="0" rtl="0" algn="l">
              <a:lnSpc>
                <a:spcPct val="100000"/>
              </a:lnSpc>
              <a:spcBef>
                <a:spcPts val="0"/>
              </a:spcBef>
              <a:spcAft>
                <a:spcPts val="0"/>
              </a:spcAft>
              <a:buClr>
                <a:srgbClr val="181C62"/>
              </a:buClr>
              <a:buSzPts val="1500"/>
              <a:buFont typeface="Open Sans"/>
              <a:buNone/>
            </a:pPr>
            <a:r>
              <a:rPr b="1" lang="en-GB" sz="2400">
                <a:solidFill>
                  <a:srgbClr val="181C62"/>
                </a:solidFill>
                <a:latin typeface="Open Sans"/>
                <a:ea typeface="Open Sans"/>
                <a:cs typeface="Open Sans"/>
                <a:sym typeface="Open Sans"/>
              </a:rPr>
              <a:t>Data Science and AI</a:t>
            </a:r>
            <a:endParaRPr b="1" sz="2400">
              <a:solidFill>
                <a:srgbClr val="181C62"/>
              </a:solidFill>
              <a:latin typeface="Open Sans"/>
              <a:ea typeface="Open Sans"/>
              <a:cs typeface="Open Sans"/>
              <a:sym typeface="Open Sans"/>
            </a:endParaRPr>
          </a:p>
        </p:txBody>
      </p:sp>
      <p:pic>
        <p:nvPicPr>
          <p:cNvPr id="59" name="Google Shape;59;p12"/>
          <p:cNvPicPr preferRelativeResize="0"/>
          <p:nvPr/>
        </p:nvPicPr>
        <p:blipFill rotWithShape="1">
          <a:blip r:embed="rId4">
            <a:alphaModFix/>
          </a:blip>
          <a:srcRect b="33662" l="0" r="0" t="30759"/>
          <a:stretch/>
        </p:blipFill>
        <p:spPr>
          <a:xfrm>
            <a:off x="342900" y="0"/>
            <a:ext cx="4263655" cy="996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76" name="Shape 76"/>
        <p:cNvGrpSpPr/>
        <p:nvPr/>
      </p:nvGrpSpPr>
      <p:grpSpPr>
        <a:xfrm>
          <a:off x="0" y="0"/>
          <a:ext cx="0" cy="0"/>
          <a:chOff x="0" y="0"/>
          <a:chExt cx="0" cy="0"/>
        </a:xfrm>
      </p:grpSpPr>
      <p:sp>
        <p:nvSpPr>
          <p:cNvPr id="77" name="Google Shape;77;p15"/>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78" name="Google Shape;78;p15"/>
          <p:cNvSpPr/>
          <p:nvPr/>
        </p:nvSpPr>
        <p:spPr>
          <a:xfrm>
            <a:off x="411480" y="994410"/>
            <a:ext cx="82296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1300"/>
              <a:buFont typeface="Open Sans"/>
              <a:buNone/>
            </a:pPr>
            <a:r>
              <a:rPr b="1" lang="en-GB" sz="1300">
                <a:solidFill>
                  <a:schemeClr val="lt1"/>
                </a:solidFill>
                <a:latin typeface="Open Sans"/>
                <a:ea typeface="Open Sans"/>
                <a:cs typeface="Open Sans"/>
                <a:sym typeface="Open Sans"/>
              </a:rPr>
              <a:t>Module 3  ·  Machine Learning &amp; GenAI</a:t>
            </a:r>
            <a:endParaRPr sz="1300">
              <a:solidFill>
                <a:schemeClr val="lt1"/>
              </a:solidFill>
              <a:latin typeface="Open Sans"/>
              <a:ea typeface="Open Sans"/>
              <a:cs typeface="Open Sans"/>
              <a:sym typeface="Open Sans"/>
            </a:endParaRPr>
          </a:p>
        </p:txBody>
      </p:sp>
      <p:sp>
        <p:nvSpPr>
          <p:cNvPr id="79" name="Google Shape;79;p15"/>
          <p:cNvSpPr/>
          <p:nvPr/>
        </p:nvSpPr>
        <p:spPr>
          <a:xfrm>
            <a:off x="411480" y="1440180"/>
            <a:ext cx="82296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5400"/>
              <a:buFont typeface="Open Sans"/>
              <a:buNone/>
            </a:pPr>
            <a:r>
              <a:rPr lang="en-GB" sz="5400">
                <a:solidFill>
                  <a:schemeClr val="accent6"/>
                </a:solidFill>
                <a:latin typeface="Open Sans"/>
                <a:ea typeface="Open Sans"/>
                <a:cs typeface="Open Sans"/>
                <a:sym typeface="Open Sans"/>
              </a:rPr>
              <a:t>L02</a:t>
            </a:r>
            <a:endParaRPr sz="5400">
              <a:solidFill>
                <a:schemeClr val="accent6"/>
              </a:solidFill>
              <a:latin typeface="Open Sans"/>
              <a:ea typeface="Open Sans"/>
              <a:cs typeface="Open Sans"/>
              <a:sym typeface="Open Sans"/>
            </a:endParaRPr>
          </a:p>
        </p:txBody>
      </p:sp>
      <p:sp>
        <p:nvSpPr>
          <p:cNvPr id="80" name="Google Shape;80;p15"/>
          <p:cNvSpPr/>
          <p:nvPr/>
        </p:nvSpPr>
        <p:spPr>
          <a:xfrm>
            <a:off x="411480" y="2125980"/>
            <a:ext cx="8229600" cy="2057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FFFFFF"/>
              </a:buClr>
              <a:buSzPts val="5900"/>
              <a:buFont typeface="Open Sans"/>
              <a:buNone/>
            </a:pPr>
            <a:r>
              <a:rPr lang="en-GB" sz="5900">
                <a:solidFill>
                  <a:srgbClr val="FFFFFF"/>
                </a:solidFill>
                <a:latin typeface="Open Sans"/>
                <a:ea typeface="Open Sans"/>
                <a:cs typeface="Open Sans"/>
                <a:sym typeface="Open Sans"/>
              </a:rPr>
              <a:t xml:space="preserve">How Sure </a:t>
            </a:r>
            <a:endParaRPr sz="5900">
              <a:solidFill>
                <a:srgbClr val="FFFFFF"/>
              </a:solidFill>
              <a:latin typeface="Open Sans"/>
              <a:ea typeface="Open Sans"/>
              <a:cs typeface="Open Sans"/>
              <a:sym typeface="Open Sans"/>
            </a:endParaRPr>
          </a:p>
          <a:p>
            <a:pPr indent="0" lvl="0" marL="0" marR="0" rtl="0" algn="l">
              <a:spcBef>
                <a:spcPts val="0"/>
              </a:spcBef>
              <a:spcAft>
                <a:spcPts val="0"/>
              </a:spcAft>
              <a:buClr>
                <a:srgbClr val="FFFFFF"/>
              </a:buClr>
              <a:buSzPts val="5900"/>
              <a:buFont typeface="Open Sans"/>
              <a:buNone/>
            </a:pPr>
            <a:r>
              <a:rPr b="1" i="1" lang="en-GB" sz="5900">
                <a:solidFill>
                  <a:schemeClr val="accent6"/>
                </a:solidFill>
                <a:latin typeface="Open Sans"/>
                <a:ea typeface="Open Sans"/>
                <a:cs typeface="Open Sans"/>
                <a:sym typeface="Open Sans"/>
              </a:rPr>
              <a:t>Are We?</a:t>
            </a:r>
            <a:endParaRPr i="1" sz="5900">
              <a:solidFill>
                <a:schemeClr val="accent6"/>
              </a:solidFill>
              <a:latin typeface="Open Sans"/>
              <a:ea typeface="Open Sans"/>
              <a:cs typeface="Open Sans"/>
              <a:sym typeface="Open Sans"/>
            </a:endParaRPr>
          </a:p>
        </p:txBody>
      </p:sp>
      <p:sp>
        <p:nvSpPr>
          <p:cNvPr id="81" name="Google Shape;81;p15"/>
          <p:cNvSpPr/>
          <p:nvPr/>
        </p:nvSpPr>
        <p:spPr>
          <a:xfrm>
            <a:off x="411480" y="4114800"/>
            <a:ext cx="82296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Open Sans"/>
              <a:buNone/>
            </a:pPr>
            <a:r>
              <a:rPr i="1" lang="en-GB" sz="1700">
                <a:solidFill>
                  <a:srgbClr val="FFFFFF"/>
                </a:solidFill>
                <a:latin typeface="Open Sans"/>
                <a:ea typeface="Open Sans"/>
                <a:cs typeface="Open Sans"/>
                <a:sym typeface="Open Sans"/>
              </a:rPr>
              <a:t>Probability &amp; Statistics for ML  ·  Sarah's week of defending every number</a:t>
            </a:r>
            <a:endParaRPr sz="1700">
              <a:solidFill>
                <a:schemeClr val="dk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88" name="Google Shape;88;p16"/>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89" name="Google Shape;89;p16"/>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Where We Left Off</a:t>
            </a:r>
            <a:endParaRPr sz="1100"/>
          </a:p>
        </p:txBody>
      </p:sp>
      <p:sp>
        <p:nvSpPr>
          <p:cNvPr id="90" name="Google Shape;90;p16"/>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Priya's question is the engine of this lesson</a:t>
            </a:r>
            <a:endParaRPr sz="1100"/>
          </a:p>
        </p:txBody>
      </p:sp>
      <p:sp>
        <p:nvSpPr>
          <p:cNvPr id="91" name="Google Shape;91;p16"/>
          <p:cNvSpPr/>
          <p:nvPr/>
        </p:nvSpPr>
        <p:spPr>
          <a:xfrm>
            <a:off x="411480" y="1143550"/>
            <a:ext cx="8298300" cy="16185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92" name="Google Shape;92;p16"/>
          <p:cNvSpPr txBox="1"/>
          <p:nvPr/>
        </p:nvSpPr>
        <p:spPr>
          <a:xfrm>
            <a:off x="617220" y="1280710"/>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 xml:space="preserve">Priya, at the end of </a:t>
            </a:r>
            <a:r>
              <a:rPr lang="en-GB" sz="1300">
                <a:solidFill>
                  <a:srgbClr val="F4F5F7"/>
                </a:solidFill>
                <a:latin typeface="Open Sans"/>
                <a:ea typeface="Open Sans"/>
                <a:cs typeface="Open Sans"/>
                <a:sym typeface="Open Sans"/>
              </a:rPr>
              <a:t>3.1</a:t>
            </a:r>
            <a:r>
              <a:rPr b="0" lang="en-GB" sz="1300">
                <a:solidFill>
                  <a:srgbClr val="F4F5F7"/>
                </a:solidFill>
                <a:latin typeface="Open Sans"/>
                <a:ea typeface="Open Sans"/>
                <a:cs typeface="Open Sans"/>
                <a:sym typeface="Open Sans"/>
              </a:rPr>
              <a:t>:</a:t>
            </a:r>
            <a:endParaRPr sz="1100"/>
          </a:p>
        </p:txBody>
      </p:sp>
      <p:sp>
        <p:nvSpPr>
          <p:cNvPr id="93" name="Google Shape;93;p16"/>
          <p:cNvSpPr txBox="1"/>
          <p:nvPr/>
        </p:nvSpPr>
        <p:spPr>
          <a:xfrm>
            <a:off x="617220" y="1623610"/>
            <a:ext cx="7886700" cy="654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1" lang="en-GB" sz="1700">
                <a:solidFill>
                  <a:srgbClr val="FFFFFF"/>
                </a:solidFill>
                <a:latin typeface="Open Sans"/>
                <a:ea typeface="Open Sans"/>
                <a:cs typeface="Open Sans"/>
                <a:sym typeface="Open Sans"/>
              </a:rPr>
              <a:t>"How sure are we? The model put a label on every review.</a:t>
            </a:r>
            <a:endParaRPr i="1" sz="1100"/>
          </a:p>
          <a:p>
            <a:pPr indent="0" lvl="0" marL="0" marR="0" rtl="0" algn="l">
              <a:lnSpc>
                <a:spcPct val="150000"/>
              </a:lnSpc>
              <a:spcBef>
                <a:spcPts val="0"/>
              </a:spcBef>
              <a:spcAft>
                <a:spcPts val="0"/>
              </a:spcAft>
              <a:buNone/>
            </a:pPr>
            <a:r>
              <a:rPr b="0" i="1" lang="en-GB" sz="1700">
                <a:solidFill>
                  <a:srgbClr val="FFFFFF"/>
                </a:solidFill>
                <a:latin typeface="Open Sans"/>
                <a:ea typeface="Open Sans"/>
                <a:cs typeface="Open Sans"/>
                <a:sym typeface="Open Sans"/>
              </a:rPr>
              <a:t>How do we know it isn't confidently wrong in ways we can't see?"</a:t>
            </a:r>
            <a:endParaRPr i="1" sz="1100"/>
          </a:p>
        </p:txBody>
      </p:sp>
      <p:sp>
        <p:nvSpPr>
          <p:cNvPr id="94" name="Google Shape;94;p16"/>
          <p:cNvSpPr txBox="1"/>
          <p:nvPr/>
        </p:nvSpPr>
        <p:spPr>
          <a:xfrm>
            <a:off x="411480" y="2844830"/>
            <a:ext cx="82983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2C5697"/>
                </a:solidFill>
                <a:latin typeface="Open Sans"/>
                <a:ea typeface="Open Sans"/>
                <a:cs typeface="Open Sans"/>
                <a:sym typeface="Open Sans"/>
              </a:rPr>
              <a:t>Three numbers Sarah needs to defend by Friday:</a:t>
            </a:r>
            <a:endParaRPr sz="1100"/>
          </a:p>
        </p:txBody>
      </p:sp>
      <p:grpSp>
        <p:nvGrpSpPr>
          <p:cNvPr id="95" name="Google Shape;95;p16"/>
          <p:cNvGrpSpPr/>
          <p:nvPr/>
        </p:nvGrpSpPr>
        <p:grpSpPr>
          <a:xfrm>
            <a:off x="411478" y="3269059"/>
            <a:ext cx="8229603" cy="445200"/>
            <a:chOff x="411477" y="3269059"/>
            <a:chExt cx="8229603" cy="445200"/>
          </a:xfrm>
        </p:grpSpPr>
        <p:grpSp>
          <p:nvGrpSpPr>
            <p:cNvPr id="96" name="Google Shape;96;p16"/>
            <p:cNvGrpSpPr/>
            <p:nvPr/>
          </p:nvGrpSpPr>
          <p:grpSpPr>
            <a:xfrm>
              <a:off x="411478" y="3269059"/>
              <a:ext cx="1509000" cy="445200"/>
              <a:chOff x="411477" y="3173684"/>
              <a:chExt cx="1509000" cy="445200"/>
            </a:xfrm>
          </p:grpSpPr>
          <p:sp>
            <p:nvSpPr>
              <p:cNvPr id="97" name="Google Shape;97;p16"/>
              <p:cNvSpPr/>
              <p:nvPr/>
            </p:nvSpPr>
            <p:spPr>
              <a:xfrm>
                <a:off x="411477" y="3173684"/>
                <a:ext cx="1509000" cy="445200"/>
              </a:xfrm>
              <a:prstGeom prst="rect">
                <a:avLst/>
              </a:prstGeom>
              <a:solidFill>
                <a:srgbClr val="1F6B3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98" name="Google Shape;98;p16"/>
              <p:cNvSpPr txBox="1"/>
              <p:nvPr/>
            </p:nvSpPr>
            <p:spPr>
              <a:xfrm>
                <a:off x="411477" y="3257684"/>
                <a:ext cx="15090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800">
                    <a:solidFill>
                      <a:srgbClr val="FFFFFF"/>
                    </a:solidFill>
                    <a:latin typeface="Open Sans"/>
                    <a:ea typeface="Open Sans"/>
                    <a:cs typeface="Open Sans"/>
                    <a:sym typeface="Open Sans"/>
                  </a:rPr>
                  <a:t>60%</a:t>
                </a:r>
                <a:endParaRPr sz="1100"/>
              </a:p>
            </p:txBody>
          </p:sp>
        </p:grpSp>
        <p:sp>
          <p:nvSpPr>
            <p:cNvPr id="99" name="Google Shape;99;p16"/>
            <p:cNvSpPr txBox="1"/>
            <p:nvPr/>
          </p:nvSpPr>
          <p:spPr>
            <a:xfrm>
              <a:off x="2023110" y="3391605"/>
              <a:ext cx="27432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of reviews are positive</a:t>
              </a:r>
              <a:endParaRPr sz="1100"/>
            </a:p>
          </p:txBody>
        </p:sp>
        <p:sp>
          <p:nvSpPr>
            <p:cNvPr id="100" name="Google Shape;100;p16"/>
            <p:cNvSpPr txBox="1"/>
            <p:nvPr/>
          </p:nvSpPr>
          <p:spPr>
            <a:xfrm>
              <a:off x="4869180" y="3391605"/>
              <a:ext cx="3771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2C5697"/>
                  </a:solidFill>
                  <a:latin typeface="Open Sans"/>
                  <a:ea typeface="Open Sans"/>
                  <a:cs typeface="Open Sans"/>
                  <a:sym typeface="Open Sans"/>
                </a:rPr>
                <a:t>→ Distribution analysis (Tuesday)</a:t>
              </a:r>
              <a:endParaRPr sz="1100"/>
            </a:p>
          </p:txBody>
        </p:sp>
      </p:grpSp>
      <p:grpSp>
        <p:nvGrpSpPr>
          <p:cNvPr id="101" name="Google Shape;101;p16"/>
          <p:cNvGrpSpPr/>
          <p:nvPr/>
        </p:nvGrpSpPr>
        <p:grpSpPr>
          <a:xfrm>
            <a:off x="411480" y="3749118"/>
            <a:ext cx="8229600" cy="445200"/>
            <a:chOff x="411480" y="3749118"/>
            <a:chExt cx="8229600" cy="445200"/>
          </a:xfrm>
        </p:grpSpPr>
        <p:grpSp>
          <p:nvGrpSpPr>
            <p:cNvPr id="102" name="Google Shape;102;p16"/>
            <p:cNvGrpSpPr/>
            <p:nvPr/>
          </p:nvGrpSpPr>
          <p:grpSpPr>
            <a:xfrm>
              <a:off x="411480" y="3749118"/>
              <a:ext cx="1509000" cy="445200"/>
              <a:chOff x="411480" y="3653743"/>
              <a:chExt cx="1509000" cy="445200"/>
            </a:xfrm>
          </p:grpSpPr>
          <p:sp>
            <p:nvSpPr>
              <p:cNvPr id="103" name="Google Shape;103;p16"/>
              <p:cNvSpPr/>
              <p:nvPr/>
            </p:nvSpPr>
            <p:spPr>
              <a:xfrm>
                <a:off x="411480" y="3653743"/>
                <a:ext cx="1509000" cy="445200"/>
              </a:xfrm>
              <a:prstGeom prst="rect">
                <a:avLst/>
              </a:prstGeom>
              <a:solidFill>
                <a:srgbClr val="3D6DB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04" name="Google Shape;104;p16"/>
              <p:cNvSpPr txBox="1"/>
              <p:nvPr/>
            </p:nvSpPr>
            <p:spPr>
              <a:xfrm>
                <a:off x="411480" y="3737743"/>
                <a:ext cx="15090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800">
                    <a:solidFill>
                      <a:srgbClr val="FFFFFF"/>
                    </a:solidFill>
                    <a:latin typeface="Open Sans"/>
                    <a:ea typeface="Open Sans"/>
                    <a:cs typeface="Open Sans"/>
                    <a:sym typeface="Open Sans"/>
                  </a:rPr>
                  <a:t>84%</a:t>
                </a:r>
                <a:endParaRPr sz="1100"/>
              </a:p>
            </p:txBody>
          </p:sp>
        </p:grpSp>
        <p:sp>
          <p:nvSpPr>
            <p:cNvPr id="105" name="Google Shape;105;p16"/>
            <p:cNvSpPr txBox="1"/>
            <p:nvPr/>
          </p:nvSpPr>
          <p:spPr>
            <a:xfrm>
              <a:off x="2023110" y="3871665"/>
              <a:ext cx="27432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model accuracy</a:t>
              </a:r>
              <a:endParaRPr sz="1100"/>
            </a:p>
          </p:txBody>
        </p:sp>
        <p:sp>
          <p:nvSpPr>
            <p:cNvPr id="106" name="Google Shape;106;p16"/>
            <p:cNvSpPr txBox="1"/>
            <p:nvPr/>
          </p:nvSpPr>
          <p:spPr>
            <a:xfrm>
              <a:off x="4869180" y="3871665"/>
              <a:ext cx="3771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2C5697"/>
                  </a:solidFill>
                  <a:latin typeface="Open Sans"/>
                  <a:ea typeface="Open Sans"/>
                  <a:cs typeface="Open Sans"/>
                  <a:sym typeface="Open Sans"/>
                </a:rPr>
                <a:t>→ Confidence interval (Wednesday)</a:t>
              </a:r>
              <a:endParaRPr sz="1100"/>
            </a:p>
          </p:txBody>
        </p:sp>
      </p:grpSp>
      <p:grpSp>
        <p:nvGrpSpPr>
          <p:cNvPr id="107" name="Google Shape;107;p16"/>
          <p:cNvGrpSpPr/>
          <p:nvPr/>
        </p:nvGrpSpPr>
        <p:grpSpPr>
          <a:xfrm>
            <a:off x="411480" y="4229179"/>
            <a:ext cx="8229600" cy="445200"/>
            <a:chOff x="411480" y="4229179"/>
            <a:chExt cx="8229600" cy="445200"/>
          </a:xfrm>
        </p:grpSpPr>
        <p:grpSp>
          <p:nvGrpSpPr>
            <p:cNvPr id="108" name="Google Shape;108;p16"/>
            <p:cNvGrpSpPr/>
            <p:nvPr/>
          </p:nvGrpSpPr>
          <p:grpSpPr>
            <a:xfrm>
              <a:off x="411480" y="4229179"/>
              <a:ext cx="1509000" cy="445200"/>
              <a:chOff x="411480" y="4133804"/>
              <a:chExt cx="1509000" cy="445200"/>
            </a:xfrm>
          </p:grpSpPr>
          <p:sp>
            <p:nvSpPr>
              <p:cNvPr id="109" name="Google Shape;109;p16"/>
              <p:cNvSpPr/>
              <p:nvPr/>
            </p:nvSpPr>
            <p:spPr>
              <a:xfrm>
                <a:off x="411480" y="4133804"/>
                <a:ext cx="1509000" cy="445200"/>
              </a:xfrm>
              <a:prstGeom prst="rect">
                <a:avLst/>
              </a:prstGeom>
              <a:solidFill>
                <a:srgbClr val="5F6B7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10" name="Google Shape;110;p16"/>
              <p:cNvSpPr txBox="1"/>
              <p:nvPr/>
            </p:nvSpPr>
            <p:spPr>
              <a:xfrm>
                <a:off x="411480" y="4217804"/>
                <a:ext cx="15090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800">
                    <a:solidFill>
                      <a:srgbClr val="FFFFFF"/>
                    </a:solidFill>
                    <a:latin typeface="Open Sans"/>
                    <a:ea typeface="Open Sans"/>
                    <a:cs typeface="Open Sans"/>
                    <a:sym typeface="Open Sans"/>
                  </a:rPr>
                  <a:t>?</a:t>
                </a:r>
                <a:endParaRPr sz="1100"/>
              </a:p>
            </p:txBody>
          </p:sp>
        </p:grpSp>
        <p:sp>
          <p:nvSpPr>
            <p:cNvPr id="111" name="Google Shape;111;p16"/>
            <p:cNvSpPr txBox="1"/>
            <p:nvPr/>
          </p:nvSpPr>
          <p:spPr>
            <a:xfrm>
              <a:off x="2023110" y="4351725"/>
              <a:ext cx="27432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coupon reduces churn</a:t>
              </a:r>
              <a:endParaRPr sz="1100"/>
            </a:p>
          </p:txBody>
        </p:sp>
        <p:sp>
          <p:nvSpPr>
            <p:cNvPr id="112" name="Google Shape;112;p16"/>
            <p:cNvSpPr txBox="1"/>
            <p:nvPr/>
          </p:nvSpPr>
          <p:spPr>
            <a:xfrm>
              <a:off x="4869180" y="4351725"/>
              <a:ext cx="3771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2C5697"/>
                  </a:solidFill>
                  <a:latin typeface="Open Sans"/>
                  <a:ea typeface="Open Sans"/>
                  <a:cs typeface="Open Sans"/>
                  <a:sym typeface="Open Sans"/>
                </a:rPr>
                <a:t>→ A/B test + p-value (Thursday)</a:t>
              </a:r>
              <a:endParaRPr sz="11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119" name="Google Shape;119;p17"/>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0" name="Google Shape;120;p17"/>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Sarah's Monday — The Polarity Histogram</a:t>
            </a:r>
            <a:endParaRPr sz="1100"/>
          </a:p>
        </p:txBody>
      </p:sp>
      <p:sp>
        <p:nvSpPr>
          <p:cNvPr id="121" name="Google Shape;121;p17"/>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Reading the shape of 10,000 reviews</a:t>
            </a:r>
            <a:endParaRPr sz="1100"/>
          </a:p>
        </p:txBody>
      </p:sp>
      <p:sp>
        <p:nvSpPr>
          <p:cNvPr id="122" name="Google Shape;122;p17"/>
          <p:cNvSpPr/>
          <p:nvPr/>
        </p:nvSpPr>
        <p:spPr>
          <a:xfrm>
            <a:off x="411480" y="1176601"/>
            <a:ext cx="4938000" cy="34935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3" name="Google Shape;123;p17"/>
          <p:cNvSpPr txBox="1"/>
          <p:nvPr/>
        </p:nvSpPr>
        <p:spPr>
          <a:xfrm>
            <a:off x="582930" y="1313761"/>
            <a:ext cx="4595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1B2A4A"/>
                </a:solidFill>
                <a:latin typeface="Open Sans"/>
                <a:ea typeface="Open Sans"/>
                <a:cs typeface="Open Sans"/>
                <a:sym typeface="Open Sans"/>
              </a:rPr>
              <a:t>What Sarah sees:</a:t>
            </a:r>
            <a:endParaRPr sz="1100"/>
          </a:p>
        </p:txBody>
      </p:sp>
      <p:grpSp>
        <p:nvGrpSpPr>
          <p:cNvPr id="124" name="Google Shape;124;p17"/>
          <p:cNvGrpSpPr/>
          <p:nvPr/>
        </p:nvGrpSpPr>
        <p:grpSpPr>
          <a:xfrm>
            <a:off x="685800" y="1781519"/>
            <a:ext cx="4069650" cy="2113733"/>
            <a:chOff x="685800" y="1781519"/>
            <a:chExt cx="4069650" cy="2113733"/>
          </a:xfrm>
        </p:grpSpPr>
        <p:sp>
          <p:nvSpPr>
            <p:cNvPr id="125" name="Google Shape;125;p17"/>
            <p:cNvSpPr/>
            <p:nvPr/>
          </p:nvSpPr>
          <p:spPr>
            <a:xfrm>
              <a:off x="685800" y="3554591"/>
              <a:ext cx="229200" cy="323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6" name="Google Shape;126;p17"/>
            <p:cNvSpPr/>
            <p:nvPr/>
          </p:nvSpPr>
          <p:spPr>
            <a:xfrm>
              <a:off x="960120" y="2910254"/>
              <a:ext cx="229200" cy="9711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7" name="Google Shape;127;p17"/>
            <p:cNvSpPr/>
            <p:nvPr/>
          </p:nvSpPr>
          <p:spPr>
            <a:xfrm>
              <a:off x="1234440" y="2181103"/>
              <a:ext cx="229200" cy="16995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8" name="Google Shape;128;p17"/>
            <p:cNvSpPr/>
            <p:nvPr/>
          </p:nvSpPr>
          <p:spPr>
            <a:xfrm>
              <a:off x="1508760" y="1781519"/>
              <a:ext cx="229200" cy="21039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9" name="Google Shape;129;p17"/>
            <p:cNvSpPr/>
            <p:nvPr/>
          </p:nvSpPr>
          <p:spPr>
            <a:xfrm>
              <a:off x="1783080" y="2344110"/>
              <a:ext cx="229200" cy="15378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0" name="Google Shape;130;p17"/>
            <p:cNvSpPr/>
            <p:nvPr/>
          </p:nvSpPr>
          <p:spPr>
            <a:xfrm>
              <a:off x="2057400" y="2915060"/>
              <a:ext cx="229200" cy="9711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1" name="Google Shape;131;p17"/>
            <p:cNvSpPr/>
            <p:nvPr/>
          </p:nvSpPr>
          <p:spPr>
            <a:xfrm>
              <a:off x="2331720" y="3324062"/>
              <a:ext cx="229200" cy="566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2" name="Google Shape;132;p17"/>
            <p:cNvSpPr/>
            <p:nvPr/>
          </p:nvSpPr>
          <p:spPr>
            <a:xfrm>
              <a:off x="2606040" y="3486011"/>
              <a:ext cx="229200" cy="404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3" name="Google Shape;133;p17"/>
            <p:cNvSpPr/>
            <p:nvPr/>
          </p:nvSpPr>
          <p:spPr>
            <a:xfrm>
              <a:off x="2880360" y="3562853"/>
              <a:ext cx="229200" cy="323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4" name="Google Shape;134;p17"/>
            <p:cNvSpPr/>
            <p:nvPr/>
          </p:nvSpPr>
          <p:spPr>
            <a:xfrm>
              <a:off x="3154680" y="3605406"/>
              <a:ext cx="229200" cy="2832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5" name="Google Shape;135;p17"/>
            <p:cNvSpPr/>
            <p:nvPr/>
          </p:nvSpPr>
          <p:spPr>
            <a:xfrm>
              <a:off x="3429000" y="3647959"/>
              <a:ext cx="229200" cy="242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6" name="Google Shape;136;p17"/>
            <p:cNvSpPr/>
            <p:nvPr/>
          </p:nvSpPr>
          <p:spPr>
            <a:xfrm>
              <a:off x="3703320" y="3690512"/>
              <a:ext cx="229200" cy="2022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7" name="Google Shape;137;p17"/>
            <p:cNvSpPr/>
            <p:nvPr/>
          </p:nvSpPr>
          <p:spPr>
            <a:xfrm>
              <a:off x="3977640" y="3757853"/>
              <a:ext cx="229200" cy="1374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8" name="Google Shape;138;p17"/>
            <p:cNvSpPr/>
            <p:nvPr/>
          </p:nvSpPr>
          <p:spPr>
            <a:xfrm>
              <a:off x="4251960" y="3792143"/>
              <a:ext cx="229200" cy="1029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9" name="Google Shape;139;p17"/>
            <p:cNvSpPr/>
            <p:nvPr/>
          </p:nvSpPr>
          <p:spPr>
            <a:xfrm>
              <a:off x="4526250" y="3840350"/>
              <a:ext cx="229200" cy="549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grpSp>
      <p:sp>
        <p:nvSpPr>
          <p:cNvPr id="140" name="Google Shape;140;p17"/>
          <p:cNvSpPr txBox="1"/>
          <p:nvPr/>
        </p:nvSpPr>
        <p:spPr>
          <a:xfrm>
            <a:off x="582930" y="4056961"/>
            <a:ext cx="4595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100">
                <a:solidFill>
                  <a:srgbClr val="333D4D"/>
                </a:solidFill>
                <a:latin typeface="Open Sans"/>
                <a:ea typeface="Open Sans"/>
                <a:cs typeface="Open Sans"/>
                <a:sym typeface="Open Sans"/>
              </a:rPr>
              <a:t>Most scores cluster in the mildly-positive range,</a:t>
            </a:r>
            <a:endParaRPr sz="1100"/>
          </a:p>
        </p:txBody>
      </p:sp>
      <p:sp>
        <p:nvSpPr>
          <p:cNvPr id="141" name="Google Shape;141;p17"/>
          <p:cNvSpPr txBox="1"/>
          <p:nvPr/>
        </p:nvSpPr>
        <p:spPr>
          <a:xfrm>
            <a:off x="582930" y="4262701"/>
            <a:ext cx="4595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100">
                <a:solidFill>
                  <a:srgbClr val="333D4D"/>
                </a:solidFill>
                <a:latin typeface="Open Sans"/>
                <a:ea typeface="Open Sans"/>
                <a:cs typeface="Open Sans"/>
                <a:sym typeface="Open Sans"/>
              </a:rPr>
              <a:t>with a long tail of very positive reviews on the right.</a:t>
            </a:r>
            <a:endParaRPr sz="1100"/>
          </a:p>
        </p:txBody>
      </p:sp>
      <p:sp>
        <p:nvSpPr>
          <p:cNvPr id="142" name="Google Shape;142;p17"/>
          <p:cNvSpPr/>
          <p:nvPr/>
        </p:nvSpPr>
        <p:spPr>
          <a:xfrm>
            <a:off x="5486400" y="1176601"/>
            <a:ext cx="3223500" cy="34782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43" name="Google Shape;143;p17"/>
          <p:cNvSpPr txBox="1"/>
          <p:nvPr/>
        </p:nvSpPr>
        <p:spPr>
          <a:xfrm>
            <a:off x="5657850" y="1313761"/>
            <a:ext cx="2880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F4F5F7"/>
                </a:solidFill>
                <a:latin typeface="Open Sans"/>
                <a:ea typeface="Open Sans"/>
                <a:cs typeface="Open Sans"/>
                <a:sym typeface="Open Sans"/>
              </a:rPr>
              <a:t>Sarah's first reaction:</a:t>
            </a:r>
            <a:endParaRPr sz="1100"/>
          </a:p>
        </p:txBody>
      </p:sp>
      <p:sp>
        <p:nvSpPr>
          <p:cNvPr id="144" name="Google Shape;144;p17"/>
          <p:cNvSpPr txBox="1"/>
          <p:nvPr/>
        </p:nvSpPr>
        <p:spPr>
          <a:xfrm>
            <a:off x="5657850" y="1725241"/>
            <a:ext cx="2880600" cy="1120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GB" sz="1300">
                <a:solidFill>
                  <a:srgbClr val="FFFFFF"/>
                </a:solidFill>
                <a:latin typeface="Open Sans"/>
                <a:ea typeface="Open Sans"/>
                <a:cs typeface="Open Sans"/>
                <a:sym typeface="Open Sans"/>
              </a:rPr>
              <a:t>"It's not a bell curve. There's a hump on the left, a long tail to the right.</a:t>
            </a:r>
            <a:endParaRPr i="1" sz="1100"/>
          </a:p>
          <a:p>
            <a:pPr indent="0" lvl="0" marL="0" marR="0" rtl="0" algn="l">
              <a:lnSpc>
                <a:spcPct val="115000"/>
              </a:lnSpc>
              <a:spcBef>
                <a:spcPts val="0"/>
              </a:spcBef>
              <a:spcAft>
                <a:spcPts val="0"/>
              </a:spcAft>
              <a:buNone/>
            </a:pPr>
            <a:r>
              <a:t/>
            </a:r>
            <a:endParaRPr b="0" i="1" sz="13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rPr b="0" i="1" lang="en-GB" sz="1300">
                <a:solidFill>
                  <a:srgbClr val="FFFFFF"/>
                </a:solidFill>
                <a:latin typeface="Open Sans"/>
                <a:ea typeface="Open Sans"/>
                <a:cs typeface="Open Sans"/>
                <a:sym typeface="Open Sans"/>
              </a:rPr>
              <a:t>How do I describe this to Priya in a way that's honest?"</a:t>
            </a:r>
            <a:endParaRPr i="1" sz="1100"/>
          </a:p>
        </p:txBody>
      </p:sp>
      <p:sp>
        <p:nvSpPr>
          <p:cNvPr id="145" name="Google Shape;145;p17"/>
          <p:cNvSpPr txBox="1"/>
          <p:nvPr/>
        </p:nvSpPr>
        <p:spPr>
          <a:xfrm>
            <a:off x="5657850" y="3554611"/>
            <a:ext cx="288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200">
                <a:solidFill>
                  <a:srgbClr val="F4F5F7"/>
                </a:solidFill>
                <a:latin typeface="Open Sans"/>
                <a:ea typeface="Open Sans"/>
                <a:cs typeface="Open Sans"/>
                <a:sym typeface="Open Sans"/>
              </a:rPr>
              <a:t>The vocabulary she needs:</a:t>
            </a:r>
            <a:endParaRPr sz="1100"/>
          </a:p>
        </p:txBody>
      </p:sp>
      <p:sp>
        <p:nvSpPr>
          <p:cNvPr id="146" name="Google Shape;146;p17"/>
          <p:cNvSpPr txBox="1"/>
          <p:nvPr/>
        </p:nvSpPr>
        <p:spPr>
          <a:xfrm>
            <a:off x="5657850" y="3863221"/>
            <a:ext cx="2880600" cy="609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GB" sz="1200">
                <a:solidFill>
                  <a:srgbClr val="DDE1E6"/>
                </a:solidFill>
                <a:latin typeface="Open Sans"/>
                <a:ea typeface="Open Sans"/>
                <a:cs typeface="Open Sans"/>
                <a:sym typeface="Open Sans"/>
              </a:rPr>
              <a:t>• Skewness</a:t>
            </a:r>
            <a:endParaRPr sz="1100"/>
          </a:p>
          <a:p>
            <a:pPr indent="0" lvl="0" marL="0" marR="0" rtl="0" algn="l">
              <a:lnSpc>
                <a:spcPct val="115000"/>
              </a:lnSpc>
              <a:spcBef>
                <a:spcPts val="0"/>
              </a:spcBef>
              <a:spcAft>
                <a:spcPts val="0"/>
              </a:spcAft>
              <a:buNone/>
            </a:pPr>
            <a:r>
              <a:rPr b="0" lang="en-GB" sz="1200">
                <a:solidFill>
                  <a:srgbClr val="DDE1E6"/>
                </a:solidFill>
                <a:latin typeface="Open Sans"/>
                <a:ea typeface="Open Sans"/>
                <a:cs typeface="Open Sans"/>
                <a:sym typeface="Open Sans"/>
              </a:rPr>
              <a:t>• Mean vs Median</a:t>
            </a:r>
            <a:endParaRPr sz="1100"/>
          </a:p>
          <a:p>
            <a:pPr indent="0" lvl="0" marL="0" marR="0" rtl="0" algn="l">
              <a:lnSpc>
                <a:spcPct val="115000"/>
              </a:lnSpc>
              <a:spcBef>
                <a:spcPts val="0"/>
              </a:spcBef>
              <a:spcAft>
                <a:spcPts val="0"/>
              </a:spcAft>
              <a:buNone/>
            </a:pPr>
            <a:r>
              <a:rPr b="0" lang="en-GB" sz="1200">
                <a:solidFill>
                  <a:srgbClr val="DDE1E6"/>
                </a:solidFill>
                <a:latin typeface="Open Sans"/>
                <a:ea typeface="Open Sans"/>
                <a:cs typeface="Open Sans"/>
                <a:sym typeface="Open Sans"/>
              </a:rPr>
              <a:t>• Z-scores</a:t>
            </a:r>
            <a:endParaRPr sz="1100"/>
          </a:p>
        </p:txBody>
      </p:sp>
      <p:cxnSp>
        <p:nvCxnSpPr>
          <p:cNvPr id="147" name="Google Shape;147;p17"/>
          <p:cNvCxnSpPr/>
          <p:nvPr/>
        </p:nvCxnSpPr>
        <p:spPr>
          <a:xfrm>
            <a:off x="685800" y="3895245"/>
            <a:ext cx="42702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2"/>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254" name="Google Shape;254;p22"/>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255" name="Google Shape;255;p22"/>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Mean vs Median</a:t>
            </a:r>
            <a:endParaRPr sz="1100"/>
          </a:p>
        </p:txBody>
      </p:sp>
      <p:sp>
        <p:nvSpPr>
          <p:cNvPr id="256" name="Google Shape;256;p22"/>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The gap tells you about the skew</a:t>
            </a:r>
            <a:endParaRPr sz="1100"/>
          </a:p>
        </p:txBody>
      </p:sp>
      <p:sp>
        <p:nvSpPr>
          <p:cNvPr id="257" name="Google Shape;257;p22"/>
          <p:cNvSpPr/>
          <p:nvPr/>
        </p:nvSpPr>
        <p:spPr>
          <a:xfrm>
            <a:off x="411475" y="1193125"/>
            <a:ext cx="8298300" cy="17685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258" name="Google Shape;258;p22"/>
          <p:cNvSpPr txBox="1"/>
          <p:nvPr/>
        </p:nvSpPr>
        <p:spPr>
          <a:xfrm>
            <a:off x="617220" y="1330286"/>
            <a:ext cx="7886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1B2A4A"/>
                </a:solidFill>
                <a:latin typeface="Open Sans"/>
                <a:ea typeface="Open Sans"/>
                <a:cs typeface="Open Sans"/>
                <a:sym typeface="Open Sans"/>
              </a:rPr>
              <a:t>Worked example — UK household income (right-skewed)</a:t>
            </a:r>
            <a:endParaRPr sz="1100"/>
          </a:p>
        </p:txBody>
      </p:sp>
      <p:sp>
        <p:nvSpPr>
          <p:cNvPr id="259" name="Google Shape;259;p22"/>
          <p:cNvSpPr txBox="1"/>
          <p:nvPr/>
        </p:nvSpPr>
        <p:spPr>
          <a:xfrm>
            <a:off x="1371600" y="1810346"/>
            <a:ext cx="27432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4200">
                <a:solidFill>
                  <a:srgbClr val="1B2A4A"/>
                </a:solidFill>
                <a:latin typeface="Open Sans"/>
                <a:ea typeface="Open Sans"/>
                <a:cs typeface="Open Sans"/>
                <a:sym typeface="Open Sans"/>
              </a:rPr>
              <a:t>£35k</a:t>
            </a:r>
            <a:endParaRPr sz="1100"/>
          </a:p>
        </p:txBody>
      </p:sp>
      <p:sp>
        <p:nvSpPr>
          <p:cNvPr id="260" name="Google Shape;260;p22"/>
          <p:cNvSpPr txBox="1"/>
          <p:nvPr/>
        </p:nvSpPr>
        <p:spPr>
          <a:xfrm>
            <a:off x="1371600" y="2496146"/>
            <a:ext cx="27432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400">
                <a:solidFill>
                  <a:srgbClr val="1B2A4A"/>
                </a:solidFill>
                <a:latin typeface="Open Sans"/>
                <a:ea typeface="Open Sans"/>
                <a:cs typeface="Open Sans"/>
                <a:sym typeface="Open Sans"/>
              </a:rPr>
              <a:t>Median</a:t>
            </a:r>
            <a:endParaRPr sz="1100"/>
          </a:p>
        </p:txBody>
      </p:sp>
      <p:sp>
        <p:nvSpPr>
          <p:cNvPr id="261" name="Google Shape;261;p22"/>
          <p:cNvSpPr txBox="1"/>
          <p:nvPr/>
        </p:nvSpPr>
        <p:spPr>
          <a:xfrm>
            <a:off x="5074920" y="1810346"/>
            <a:ext cx="27432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4200">
                <a:solidFill>
                  <a:srgbClr val="C8102E"/>
                </a:solidFill>
                <a:latin typeface="Open Sans"/>
                <a:ea typeface="Open Sans"/>
                <a:cs typeface="Open Sans"/>
                <a:sym typeface="Open Sans"/>
              </a:rPr>
              <a:t>£52k</a:t>
            </a:r>
            <a:endParaRPr sz="1100"/>
          </a:p>
        </p:txBody>
      </p:sp>
      <p:sp>
        <p:nvSpPr>
          <p:cNvPr id="262" name="Google Shape;262;p22"/>
          <p:cNvSpPr txBox="1"/>
          <p:nvPr/>
        </p:nvSpPr>
        <p:spPr>
          <a:xfrm>
            <a:off x="5074920" y="2496146"/>
            <a:ext cx="27432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400">
                <a:solidFill>
                  <a:srgbClr val="C8102E"/>
                </a:solidFill>
                <a:latin typeface="Open Sans"/>
                <a:ea typeface="Open Sans"/>
                <a:cs typeface="Open Sans"/>
                <a:sym typeface="Open Sans"/>
              </a:rPr>
              <a:t>Mean</a:t>
            </a:r>
            <a:endParaRPr sz="1100"/>
          </a:p>
        </p:txBody>
      </p:sp>
      <p:sp>
        <p:nvSpPr>
          <p:cNvPr id="263" name="Google Shape;263;p22"/>
          <p:cNvSpPr txBox="1"/>
          <p:nvPr/>
        </p:nvSpPr>
        <p:spPr>
          <a:xfrm>
            <a:off x="411480" y="3113366"/>
            <a:ext cx="82983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800">
                <a:solidFill>
                  <a:srgbClr val="2C5697"/>
                </a:solidFill>
                <a:latin typeface="Open Sans"/>
                <a:ea typeface="Open Sans"/>
                <a:cs typeface="Open Sans"/>
                <a:sym typeface="Open Sans"/>
              </a:rPr>
              <a:t>Three quick rules</a:t>
            </a:r>
            <a:endParaRPr sz="1800">
              <a:latin typeface="Open Sans"/>
              <a:ea typeface="Open Sans"/>
              <a:cs typeface="Open Sans"/>
              <a:sym typeface="Open Sans"/>
            </a:endParaRPr>
          </a:p>
        </p:txBody>
      </p:sp>
      <p:grpSp>
        <p:nvGrpSpPr>
          <p:cNvPr id="264" name="Google Shape;264;p22"/>
          <p:cNvGrpSpPr/>
          <p:nvPr/>
        </p:nvGrpSpPr>
        <p:grpSpPr>
          <a:xfrm>
            <a:off x="411465" y="3542789"/>
            <a:ext cx="8405535" cy="200111"/>
            <a:chOff x="411465" y="3542789"/>
            <a:chExt cx="8405535" cy="200111"/>
          </a:xfrm>
        </p:grpSpPr>
        <p:sp>
          <p:nvSpPr>
            <p:cNvPr id="265" name="Google Shape;265;p22"/>
            <p:cNvSpPr txBox="1"/>
            <p:nvPr/>
          </p:nvSpPr>
          <p:spPr>
            <a:xfrm>
              <a:off x="1980000" y="3542800"/>
              <a:ext cx="68370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  Data is symmetric.  Quote either.</a:t>
              </a:r>
              <a:endParaRPr sz="1300">
                <a:latin typeface="Open Sans"/>
                <a:ea typeface="Open Sans"/>
                <a:cs typeface="Open Sans"/>
                <a:sym typeface="Open Sans"/>
              </a:endParaRPr>
            </a:p>
          </p:txBody>
        </p:sp>
        <p:sp>
          <p:nvSpPr>
            <p:cNvPr id="266" name="Google Shape;266;p22"/>
            <p:cNvSpPr txBox="1"/>
            <p:nvPr/>
          </p:nvSpPr>
          <p:spPr>
            <a:xfrm>
              <a:off x="411465" y="3542789"/>
              <a:ext cx="1365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Open Sans"/>
                  <a:ea typeface="Open Sans"/>
                  <a:cs typeface="Open Sans"/>
                  <a:sym typeface="Open Sans"/>
                </a:rPr>
                <a:t>Mean = Median</a:t>
              </a:r>
              <a:endParaRPr sz="1300">
                <a:latin typeface="Open Sans"/>
                <a:ea typeface="Open Sans"/>
                <a:cs typeface="Open Sans"/>
                <a:sym typeface="Open Sans"/>
              </a:endParaRPr>
            </a:p>
          </p:txBody>
        </p:sp>
      </p:grpSp>
      <p:grpSp>
        <p:nvGrpSpPr>
          <p:cNvPr id="267" name="Google Shape;267;p22"/>
          <p:cNvGrpSpPr/>
          <p:nvPr/>
        </p:nvGrpSpPr>
        <p:grpSpPr>
          <a:xfrm>
            <a:off x="411465" y="3850094"/>
            <a:ext cx="8416635" cy="207762"/>
            <a:chOff x="411465" y="3833463"/>
            <a:chExt cx="8416635" cy="207762"/>
          </a:xfrm>
        </p:grpSpPr>
        <p:sp>
          <p:nvSpPr>
            <p:cNvPr id="268" name="Google Shape;268;p22"/>
            <p:cNvSpPr txBox="1"/>
            <p:nvPr/>
          </p:nvSpPr>
          <p:spPr>
            <a:xfrm>
              <a:off x="1980000" y="3841125"/>
              <a:ext cx="68481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a:t>
              </a:r>
              <a:r>
                <a:rPr lang="en-GB" sz="1300">
                  <a:solidFill>
                    <a:srgbClr val="333D4D"/>
                  </a:solidFill>
                  <a:latin typeface="Open Sans"/>
                  <a:ea typeface="Open Sans"/>
                  <a:cs typeface="Open Sans"/>
                  <a:sym typeface="Open Sans"/>
                </a:rPr>
                <a:t xml:space="preserve">  </a:t>
              </a:r>
              <a:r>
                <a:rPr lang="en-GB" sz="1300">
                  <a:solidFill>
                    <a:srgbClr val="333D4D"/>
                  </a:solidFill>
                  <a:latin typeface="Open Sans"/>
                  <a:ea typeface="Open Sans"/>
                  <a:cs typeface="Open Sans"/>
                  <a:sym typeface="Open Sans"/>
                </a:rPr>
                <a:t>Right-skewed.  Quote MEDIAN for 'typical'; quote MEAN for 'total income generated'.</a:t>
              </a:r>
              <a:endParaRPr sz="1300">
                <a:latin typeface="Open Sans"/>
                <a:ea typeface="Open Sans"/>
                <a:cs typeface="Open Sans"/>
                <a:sym typeface="Open Sans"/>
              </a:endParaRPr>
            </a:p>
          </p:txBody>
        </p:sp>
        <p:sp>
          <p:nvSpPr>
            <p:cNvPr id="269" name="Google Shape;269;p22"/>
            <p:cNvSpPr txBox="1"/>
            <p:nvPr/>
          </p:nvSpPr>
          <p:spPr>
            <a:xfrm>
              <a:off x="411465" y="3833463"/>
              <a:ext cx="1365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Open Sans"/>
                  <a:ea typeface="Open Sans"/>
                  <a:cs typeface="Open Sans"/>
                  <a:sym typeface="Open Sans"/>
                </a:rPr>
                <a:t>Mean &gt; Median</a:t>
              </a:r>
              <a:endParaRPr sz="1300">
                <a:latin typeface="Open Sans"/>
                <a:ea typeface="Open Sans"/>
                <a:cs typeface="Open Sans"/>
                <a:sym typeface="Open Sans"/>
              </a:endParaRPr>
            </a:p>
          </p:txBody>
        </p:sp>
      </p:grpSp>
      <p:grpSp>
        <p:nvGrpSpPr>
          <p:cNvPr id="270" name="Google Shape;270;p22"/>
          <p:cNvGrpSpPr/>
          <p:nvPr/>
        </p:nvGrpSpPr>
        <p:grpSpPr>
          <a:xfrm>
            <a:off x="411465" y="4157389"/>
            <a:ext cx="7954635" cy="200111"/>
            <a:chOff x="385615" y="4327789"/>
            <a:chExt cx="7954635" cy="200111"/>
          </a:xfrm>
        </p:grpSpPr>
        <p:sp>
          <p:nvSpPr>
            <p:cNvPr id="271" name="Google Shape;271;p22"/>
            <p:cNvSpPr txBox="1"/>
            <p:nvPr/>
          </p:nvSpPr>
          <p:spPr>
            <a:xfrm>
              <a:off x="385615" y="4327789"/>
              <a:ext cx="1365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Open Sans"/>
                  <a:ea typeface="Open Sans"/>
                  <a:cs typeface="Open Sans"/>
                  <a:sym typeface="Open Sans"/>
                </a:rPr>
                <a:t>Mean &lt; Median</a:t>
              </a:r>
              <a:endParaRPr sz="1300">
                <a:latin typeface="Open Sans"/>
                <a:ea typeface="Open Sans"/>
                <a:cs typeface="Open Sans"/>
                <a:sym typeface="Open Sans"/>
              </a:endParaRPr>
            </a:p>
          </p:txBody>
        </p:sp>
        <p:sp>
          <p:nvSpPr>
            <p:cNvPr id="272" name="Google Shape;272;p22"/>
            <p:cNvSpPr txBox="1"/>
            <p:nvPr/>
          </p:nvSpPr>
          <p:spPr>
            <a:xfrm>
              <a:off x="1954150" y="4327800"/>
              <a:ext cx="63861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  Left-skewed.  Same logic, flipped.</a:t>
              </a:r>
              <a:endParaRPr sz="1300">
                <a:latin typeface="Open Sans"/>
                <a:ea typeface="Open Sans"/>
                <a:cs typeface="Open Sans"/>
                <a:sym typeface="Open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4"/>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293" name="Google Shape;293;p24"/>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294" name="Google Shape;294;p24"/>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Z-scores — Putting Values in Context</a:t>
            </a:r>
            <a:endParaRPr sz="1100"/>
          </a:p>
        </p:txBody>
      </p:sp>
      <p:sp>
        <p:nvSpPr>
          <p:cNvPr id="295" name="Google Shape;295;p24"/>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How many standard deviations from average?</a:t>
            </a:r>
            <a:endParaRPr sz="1100"/>
          </a:p>
        </p:txBody>
      </p:sp>
      <p:sp>
        <p:nvSpPr>
          <p:cNvPr id="296" name="Google Shape;296;p24"/>
          <p:cNvSpPr/>
          <p:nvPr/>
        </p:nvSpPr>
        <p:spPr>
          <a:xfrm>
            <a:off x="411480" y="1179079"/>
            <a:ext cx="8298300" cy="9711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297" name="Google Shape;297;p24"/>
          <p:cNvSpPr txBox="1"/>
          <p:nvPr/>
        </p:nvSpPr>
        <p:spPr>
          <a:xfrm>
            <a:off x="617220" y="1281948"/>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Formula</a:t>
            </a:r>
            <a:endParaRPr sz="1100"/>
          </a:p>
        </p:txBody>
      </p:sp>
      <p:sp>
        <p:nvSpPr>
          <p:cNvPr id="298" name="Google Shape;298;p24"/>
          <p:cNvSpPr txBox="1"/>
          <p:nvPr/>
        </p:nvSpPr>
        <p:spPr>
          <a:xfrm>
            <a:off x="617220" y="1556269"/>
            <a:ext cx="78867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2100">
                <a:solidFill>
                  <a:srgbClr val="DDE1E6"/>
                </a:solidFill>
                <a:latin typeface="Consolas"/>
                <a:ea typeface="Consolas"/>
                <a:cs typeface="Consolas"/>
                <a:sym typeface="Consolas"/>
              </a:rPr>
              <a:t>z  =  (value − mean) / standard deviation</a:t>
            </a:r>
            <a:endParaRPr sz="1100"/>
          </a:p>
        </p:txBody>
      </p:sp>
      <p:sp>
        <p:nvSpPr>
          <p:cNvPr id="299" name="Google Shape;299;p24"/>
          <p:cNvSpPr/>
          <p:nvPr/>
        </p:nvSpPr>
        <p:spPr>
          <a:xfrm>
            <a:off x="422850" y="2150175"/>
            <a:ext cx="8298300" cy="26064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00" name="Google Shape;300;p24"/>
          <p:cNvSpPr txBox="1"/>
          <p:nvPr/>
        </p:nvSpPr>
        <p:spPr>
          <a:xfrm>
            <a:off x="617220" y="2276359"/>
            <a:ext cx="7886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1B2A4A"/>
                </a:solidFill>
                <a:latin typeface="Open Sans"/>
                <a:ea typeface="Open Sans"/>
                <a:cs typeface="Open Sans"/>
                <a:sym typeface="Open Sans"/>
              </a:rPr>
              <a:t>Worked example — Sarah's exam score</a:t>
            </a:r>
            <a:endParaRPr sz="1100"/>
          </a:p>
        </p:txBody>
      </p:sp>
      <p:sp>
        <p:nvSpPr>
          <p:cNvPr id="301" name="Google Shape;301;p24"/>
          <p:cNvSpPr txBox="1"/>
          <p:nvPr/>
        </p:nvSpPr>
        <p:spPr>
          <a:xfrm>
            <a:off x="617220" y="2619259"/>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Sarah scored 85 on a test. Is that good?</a:t>
            </a:r>
            <a:endParaRPr sz="1100"/>
          </a:p>
        </p:txBody>
      </p:sp>
      <p:grpSp>
        <p:nvGrpSpPr>
          <p:cNvPr id="302" name="Google Shape;302;p24"/>
          <p:cNvGrpSpPr/>
          <p:nvPr/>
        </p:nvGrpSpPr>
        <p:grpSpPr>
          <a:xfrm>
            <a:off x="617220" y="3150667"/>
            <a:ext cx="8023754" cy="200100"/>
            <a:chOff x="617220" y="3150667"/>
            <a:chExt cx="8023754" cy="200100"/>
          </a:xfrm>
        </p:grpSpPr>
        <p:sp>
          <p:nvSpPr>
            <p:cNvPr id="303" name="Google Shape;303;p24"/>
            <p:cNvSpPr txBox="1"/>
            <p:nvPr/>
          </p:nvSpPr>
          <p:spPr>
            <a:xfrm>
              <a:off x="617220" y="3150667"/>
              <a:ext cx="30861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If class average = 60, std = 10</a:t>
              </a:r>
              <a:endParaRPr sz="1100"/>
            </a:p>
          </p:txBody>
        </p:sp>
        <p:sp>
          <p:nvSpPr>
            <p:cNvPr id="304" name="Google Shape;304;p24"/>
            <p:cNvSpPr txBox="1"/>
            <p:nvPr/>
          </p:nvSpPr>
          <p:spPr>
            <a:xfrm>
              <a:off x="3464249" y="3150667"/>
              <a:ext cx="2061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Consolas"/>
                  <a:ea typeface="Consolas"/>
                  <a:cs typeface="Consolas"/>
                  <a:sym typeface="Consolas"/>
                </a:rPr>
                <a:t>z = (85−60)/10 = 2.5</a:t>
              </a:r>
              <a:endParaRPr sz="1100"/>
            </a:p>
          </p:txBody>
        </p:sp>
        <p:sp>
          <p:nvSpPr>
            <p:cNvPr id="305" name="Google Shape;305;p24"/>
            <p:cNvSpPr txBox="1"/>
            <p:nvPr/>
          </p:nvSpPr>
          <p:spPr>
            <a:xfrm>
              <a:off x="5803874" y="3150667"/>
              <a:ext cx="28371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1B2A4A"/>
                  </a:solidFill>
                  <a:latin typeface="Open Sans"/>
                  <a:ea typeface="Open Sans"/>
                  <a:cs typeface="Open Sans"/>
                  <a:sym typeface="Open Sans"/>
                </a:rPr>
                <a:t>→  Top ~1% of the class</a:t>
              </a:r>
              <a:endParaRPr sz="1100"/>
            </a:p>
          </p:txBody>
        </p:sp>
      </p:grpSp>
      <p:grpSp>
        <p:nvGrpSpPr>
          <p:cNvPr id="306" name="Google Shape;306;p24"/>
          <p:cNvGrpSpPr/>
          <p:nvPr/>
        </p:nvGrpSpPr>
        <p:grpSpPr>
          <a:xfrm>
            <a:off x="617220" y="3613668"/>
            <a:ext cx="8133055" cy="200107"/>
            <a:chOff x="617220" y="3613668"/>
            <a:chExt cx="8133055" cy="200107"/>
          </a:xfrm>
        </p:grpSpPr>
        <p:sp>
          <p:nvSpPr>
            <p:cNvPr id="307" name="Google Shape;307;p24"/>
            <p:cNvSpPr txBox="1"/>
            <p:nvPr/>
          </p:nvSpPr>
          <p:spPr>
            <a:xfrm>
              <a:off x="617220" y="3613668"/>
              <a:ext cx="30861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If class average = 82, std = 2</a:t>
              </a:r>
              <a:endParaRPr sz="1100"/>
            </a:p>
          </p:txBody>
        </p:sp>
        <p:sp>
          <p:nvSpPr>
            <p:cNvPr id="308" name="Google Shape;308;p24"/>
            <p:cNvSpPr txBox="1"/>
            <p:nvPr/>
          </p:nvSpPr>
          <p:spPr>
            <a:xfrm>
              <a:off x="3464250" y="3613675"/>
              <a:ext cx="2061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Consolas"/>
                  <a:ea typeface="Consolas"/>
                  <a:cs typeface="Consolas"/>
                  <a:sym typeface="Consolas"/>
                </a:rPr>
                <a:t>z = (85−82)/2 = 1.5</a:t>
              </a:r>
              <a:endParaRPr sz="1100"/>
            </a:p>
          </p:txBody>
        </p:sp>
        <p:sp>
          <p:nvSpPr>
            <p:cNvPr id="309" name="Google Shape;309;p24"/>
            <p:cNvSpPr txBox="1"/>
            <p:nvPr/>
          </p:nvSpPr>
          <p:spPr>
            <a:xfrm>
              <a:off x="5803975" y="3613675"/>
              <a:ext cx="2946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2C5697"/>
                  </a:solidFill>
                  <a:latin typeface="Open Sans"/>
                  <a:ea typeface="Open Sans"/>
                  <a:cs typeface="Open Sans"/>
                  <a:sym typeface="Open Sans"/>
                </a:rPr>
                <a:t>→  Above average, not exceptional</a:t>
              </a:r>
              <a:endParaRPr sz="1100"/>
            </a:p>
          </p:txBody>
        </p:sp>
      </p:grpSp>
      <p:sp>
        <p:nvSpPr>
          <p:cNvPr id="310" name="Google Shape;310;p24"/>
          <p:cNvSpPr txBox="1"/>
          <p:nvPr/>
        </p:nvSpPr>
        <p:spPr>
          <a:xfrm>
            <a:off x="628645" y="4189374"/>
            <a:ext cx="78867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200">
                <a:solidFill>
                  <a:srgbClr val="C8102E"/>
                </a:solidFill>
                <a:latin typeface="Open Sans"/>
                <a:ea typeface="Open Sans"/>
                <a:cs typeface="Open Sans"/>
                <a:sym typeface="Open Sans"/>
              </a:rPr>
              <a:t>Same raw score (85) means very different things in different contexts. Z-scores reveal the difference.</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6"/>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332" name="Google Shape;332;p26"/>
          <p:cNvSpPr/>
          <p:nvPr/>
        </p:nvSpPr>
        <p:spPr>
          <a:xfrm>
            <a:off x="0" y="0"/>
            <a:ext cx="9143700" cy="51435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33" name="Google Shape;333;p26"/>
          <p:cNvSpPr/>
          <p:nvPr/>
        </p:nvSpPr>
        <p:spPr>
          <a:xfrm>
            <a:off x="342900" y="342900"/>
            <a:ext cx="8457900" cy="44577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34" name="Google Shape;334;p26"/>
          <p:cNvSpPr txBox="1"/>
          <p:nvPr/>
        </p:nvSpPr>
        <p:spPr>
          <a:xfrm>
            <a:off x="548640" y="685800"/>
            <a:ext cx="80238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C8102E"/>
                </a:solidFill>
                <a:latin typeface="Open Sans"/>
                <a:ea typeface="Open Sans"/>
                <a:cs typeface="Open Sans"/>
                <a:sym typeface="Open Sans"/>
              </a:rPr>
              <a:t>🟢  CODE-ALONG</a:t>
            </a:r>
            <a:endParaRPr sz="1100"/>
          </a:p>
        </p:txBody>
      </p:sp>
      <p:sp>
        <p:nvSpPr>
          <p:cNvPr id="335" name="Google Shape;335;p26"/>
          <p:cNvSpPr txBox="1"/>
          <p:nvPr/>
        </p:nvSpPr>
        <p:spPr>
          <a:xfrm>
            <a:off x="548640" y="1097280"/>
            <a:ext cx="80238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2600">
                <a:solidFill>
                  <a:srgbClr val="FFFFFF"/>
                </a:solidFill>
                <a:latin typeface="Consolas"/>
                <a:ea typeface="Consolas"/>
                <a:cs typeface="Consolas"/>
                <a:sym typeface="Consolas"/>
              </a:rPr>
              <a:t>Open:</a:t>
            </a:r>
            <a:r>
              <a:rPr b="1" lang="en-GB" sz="2600">
                <a:solidFill>
                  <a:srgbClr val="FFFFFF"/>
                </a:solidFill>
                <a:latin typeface="Consolas"/>
                <a:ea typeface="Consolas"/>
                <a:cs typeface="Consolas"/>
                <a:sym typeface="Consolas"/>
              </a:rPr>
              <a:t xml:space="preserve"> </a:t>
            </a:r>
            <a:r>
              <a:rPr b="1" lang="en-GB" sz="2600">
                <a:solidFill>
                  <a:srgbClr val="00FF00"/>
                </a:solidFill>
                <a:latin typeface="Consolas"/>
                <a:ea typeface="Consolas"/>
                <a:cs typeface="Consolas"/>
                <a:sym typeface="Consolas"/>
              </a:rPr>
              <a:t>02_distributions.ipynb</a:t>
            </a:r>
            <a:endParaRPr sz="1100">
              <a:solidFill>
                <a:srgbClr val="00FF00"/>
              </a:solidFill>
            </a:endParaRPr>
          </a:p>
        </p:txBody>
      </p:sp>
      <p:sp>
        <p:nvSpPr>
          <p:cNvPr id="336" name="Google Shape;336;p26"/>
          <p:cNvSpPr txBox="1"/>
          <p:nvPr/>
        </p:nvSpPr>
        <p:spPr>
          <a:xfrm>
            <a:off x="548640" y="2125980"/>
            <a:ext cx="80238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700">
                <a:solidFill>
                  <a:srgbClr val="F4F5F7"/>
                </a:solidFill>
                <a:latin typeface="Open Sans"/>
                <a:ea typeface="Open Sans"/>
                <a:cs typeface="Open Sans"/>
                <a:sym typeface="Open Sans"/>
              </a:rPr>
              <a:t>What you'll do</a:t>
            </a:r>
            <a:endParaRPr sz="1100"/>
          </a:p>
        </p:txBody>
      </p:sp>
      <p:sp>
        <p:nvSpPr>
          <p:cNvPr id="337" name="Google Shape;337;p26"/>
          <p:cNvSpPr txBox="1"/>
          <p:nvPr/>
        </p:nvSpPr>
        <p:spPr>
          <a:xfrm>
            <a:off x="685800" y="2537460"/>
            <a:ext cx="7886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FFFFFF"/>
                </a:solidFill>
                <a:latin typeface="Open Sans"/>
                <a:ea typeface="Open Sans"/>
                <a:cs typeface="Open Sans"/>
                <a:sym typeface="Open Sans"/>
              </a:rPr>
              <a:t>1.  Plot Sarah's polarity &amp; review-length distributions side-by-side.</a:t>
            </a:r>
            <a:endParaRPr sz="1100"/>
          </a:p>
        </p:txBody>
      </p:sp>
      <p:sp>
        <p:nvSpPr>
          <p:cNvPr id="338" name="Google Shape;338;p26"/>
          <p:cNvSpPr txBox="1"/>
          <p:nvPr/>
        </p:nvSpPr>
        <p:spPr>
          <a:xfrm>
            <a:off x="685800" y="2914650"/>
            <a:ext cx="7886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FFFFFF"/>
                </a:solidFill>
                <a:latin typeface="Open Sans"/>
                <a:ea typeface="Open Sans"/>
                <a:cs typeface="Open Sans"/>
                <a:sym typeface="Open Sans"/>
              </a:rPr>
              <a:t>2.  Identify the shape and compute mean vs median for each.</a:t>
            </a:r>
            <a:endParaRPr sz="1100"/>
          </a:p>
        </p:txBody>
      </p:sp>
      <p:sp>
        <p:nvSpPr>
          <p:cNvPr id="339" name="Google Shape;339;p26"/>
          <p:cNvSpPr txBox="1"/>
          <p:nvPr/>
        </p:nvSpPr>
        <p:spPr>
          <a:xfrm>
            <a:off x="685800" y="3291840"/>
            <a:ext cx="7886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FFFFFF"/>
                </a:solidFill>
                <a:latin typeface="Open Sans"/>
                <a:ea typeface="Open Sans"/>
                <a:cs typeface="Open Sans"/>
                <a:sym typeface="Open Sans"/>
              </a:rPr>
              <a:t>3.  Spot which summary statistic to quote for which question.</a:t>
            </a:r>
            <a:endParaRPr sz="1100"/>
          </a:p>
        </p:txBody>
      </p:sp>
      <p:sp>
        <p:nvSpPr>
          <p:cNvPr id="340" name="Google Shape;340;p26"/>
          <p:cNvSpPr/>
          <p:nvPr/>
        </p:nvSpPr>
        <p:spPr>
          <a:xfrm>
            <a:off x="548650" y="3909054"/>
            <a:ext cx="8023800" cy="4803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41" name="Google Shape;341;p26"/>
          <p:cNvSpPr txBox="1"/>
          <p:nvPr/>
        </p:nvSpPr>
        <p:spPr>
          <a:xfrm>
            <a:off x="685800" y="4046220"/>
            <a:ext cx="7886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FFFFFF"/>
                </a:solidFill>
                <a:latin typeface="Open Sans"/>
                <a:ea typeface="Open Sans"/>
                <a:cs typeface="Open Sans"/>
                <a:sym typeface="Open Sans"/>
              </a:rPr>
              <a:t>⏱  30 minutes  ·  Stop at the 🟡 Extension marker  ·  Extension is self-paced after class</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7"/>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348" name="Google Shape;348;p27"/>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49" name="Google Shape;349;p27"/>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Sarah's Wednesday — 84% From 200 Reviews</a:t>
            </a:r>
            <a:endParaRPr sz="1100"/>
          </a:p>
        </p:txBody>
      </p:sp>
      <p:sp>
        <p:nvSpPr>
          <p:cNvPr id="350" name="Google Shape;350;p27"/>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 xml:space="preserve">Is it </a:t>
            </a:r>
            <a:r>
              <a:rPr lang="en-GB" sz="1300">
                <a:solidFill>
                  <a:srgbClr val="333D4D"/>
                </a:solidFill>
                <a:latin typeface="Open Sans"/>
                <a:ea typeface="Open Sans"/>
                <a:cs typeface="Open Sans"/>
                <a:sym typeface="Open Sans"/>
              </a:rPr>
              <a:t>‘</a:t>
            </a:r>
            <a:r>
              <a:rPr b="0" lang="en-GB" sz="1300">
                <a:solidFill>
                  <a:srgbClr val="333D4D"/>
                </a:solidFill>
                <a:latin typeface="Open Sans"/>
                <a:ea typeface="Open Sans"/>
                <a:cs typeface="Open Sans"/>
                <a:sym typeface="Open Sans"/>
              </a:rPr>
              <a:t>exactly</a:t>
            </a:r>
            <a:r>
              <a:rPr lang="en-GB" sz="1300">
                <a:solidFill>
                  <a:srgbClr val="333D4D"/>
                </a:solidFill>
                <a:latin typeface="Open Sans"/>
                <a:ea typeface="Open Sans"/>
                <a:cs typeface="Open Sans"/>
                <a:sym typeface="Open Sans"/>
              </a:rPr>
              <a:t>’</a:t>
            </a:r>
            <a:r>
              <a:rPr b="0" lang="en-GB" sz="1300">
                <a:solidFill>
                  <a:srgbClr val="333D4D"/>
                </a:solidFill>
                <a:latin typeface="Open Sans"/>
                <a:ea typeface="Open Sans"/>
                <a:cs typeface="Open Sans"/>
                <a:sym typeface="Open Sans"/>
              </a:rPr>
              <a:t xml:space="preserve"> 84%? Or is that just one sample</a:t>
            </a:r>
            <a:r>
              <a:rPr lang="en-GB" sz="1300">
                <a:solidFill>
                  <a:srgbClr val="333D4D"/>
                </a:solidFill>
                <a:latin typeface="Open Sans"/>
                <a:ea typeface="Open Sans"/>
                <a:cs typeface="Open Sans"/>
                <a:sym typeface="Open Sans"/>
              </a:rPr>
              <a:t>’</a:t>
            </a:r>
            <a:r>
              <a:rPr b="0" lang="en-GB" sz="1300">
                <a:solidFill>
                  <a:srgbClr val="333D4D"/>
                </a:solidFill>
                <a:latin typeface="Open Sans"/>
                <a:ea typeface="Open Sans"/>
                <a:cs typeface="Open Sans"/>
                <a:sym typeface="Open Sans"/>
              </a:rPr>
              <a:t>s answer?</a:t>
            </a:r>
            <a:endParaRPr sz="1100"/>
          </a:p>
        </p:txBody>
      </p:sp>
      <p:sp>
        <p:nvSpPr>
          <p:cNvPr id="351" name="Google Shape;351;p27"/>
          <p:cNvSpPr/>
          <p:nvPr/>
        </p:nvSpPr>
        <p:spPr>
          <a:xfrm>
            <a:off x="411475" y="1154298"/>
            <a:ext cx="8298300" cy="8475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52" name="Google Shape;352;p27"/>
          <p:cNvSpPr txBox="1"/>
          <p:nvPr/>
        </p:nvSpPr>
        <p:spPr>
          <a:xfrm>
            <a:off x="617220" y="1257160"/>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Open Sans"/>
                <a:ea typeface="Open Sans"/>
                <a:cs typeface="Open Sans"/>
                <a:sym typeface="Open Sans"/>
              </a:rPr>
              <a:t>Sarah's plan to validate the L01 sentiment model:</a:t>
            </a:r>
            <a:endParaRPr sz="1100"/>
          </a:p>
        </p:txBody>
      </p:sp>
      <p:sp>
        <p:nvSpPr>
          <p:cNvPr id="353" name="Google Shape;353;p27"/>
          <p:cNvSpPr txBox="1"/>
          <p:nvPr/>
        </p:nvSpPr>
        <p:spPr>
          <a:xfrm>
            <a:off x="617220" y="1600061"/>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Hand-label 200 reviews herself. Compare to the model's predictions. Report agreement rate.</a:t>
            </a:r>
            <a:endParaRPr sz="1100"/>
          </a:p>
        </p:txBody>
      </p:sp>
      <p:sp>
        <p:nvSpPr>
          <p:cNvPr id="354" name="Google Shape;354;p27"/>
          <p:cNvSpPr/>
          <p:nvPr/>
        </p:nvSpPr>
        <p:spPr>
          <a:xfrm>
            <a:off x="411475" y="2251574"/>
            <a:ext cx="4080600" cy="23166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55" name="Google Shape;355;p27"/>
          <p:cNvSpPr txBox="1"/>
          <p:nvPr/>
        </p:nvSpPr>
        <p:spPr>
          <a:xfrm>
            <a:off x="617220" y="2388731"/>
            <a:ext cx="37719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F4F5F7"/>
                </a:solidFill>
                <a:latin typeface="Open Sans"/>
                <a:ea typeface="Open Sans"/>
                <a:cs typeface="Open Sans"/>
                <a:sym typeface="Open Sans"/>
              </a:rPr>
              <a:t>The result</a:t>
            </a:r>
            <a:endParaRPr sz="1100"/>
          </a:p>
        </p:txBody>
      </p:sp>
      <p:sp>
        <p:nvSpPr>
          <p:cNvPr id="356" name="Google Shape;356;p27"/>
          <p:cNvSpPr txBox="1"/>
          <p:nvPr/>
        </p:nvSpPr>
        <p:spPr>
          <a:xfrm>
            <a:off x="617220" y="2731631"/>
            <a:ext cx="37719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FFFFF"/>
                </a:solidFill>
                <a:latin typeface="Open Sans"/>
                <a:ea typeface="Open Sans"/>
                <a:cs typeface="Open Sans"/>
                <a:sym typeface="Open Sans"/>
              </a:rPr>
              <a:t>167 of 200 reviews agreed.</a:t>
            </a:r>
            <a:endParaRPr sz="1100"/>
          </a:p>
          <a:p>
            <a:pPr indent="0" lvl="0" marL="0" marR="0" rtl="0" algn="l">
              <a:spcBef>
                <a:spcPts val="0"/>
              </a:spcBef>
              <a:spcAft>
                <a:spcPts val="0"/>
              </a:spcAft>
              <a:buNone/>
            </a:pPr>
            <a:r>
              <a:t/>
            </a:r>
            <a:endParaRPr b="0" sz="1300">
              <a:solidFill>
                <a:srgbClr val="FFFFFF"/>
              </a:solidFill>
              <a:latin typeface="Open Sans"/>
              <a:ea typeface="Open Sans"/>
              <a:cs typeface="Open Sans"/>
              <a:sym typeface="Open Sans"/>
            </a:endParaRPr>
          </a:p>
          <a:p>
            <a:pPr indent="0" lvl="0" marL="0" marR="0" rtl="0" algn="l">
              <a:spcBef>
                <a:spcPts val="0"/>
              </a:spcBef>
              <a:spcAft>
                <a:spcPts val="0"/>
              </a:spcAft>
              <a:buNone/>
            </a:pPr>
            <a:r>
              <a:rPr b="0" lang="en-GB" sz="1300">
                <a:solidFill>
                  <a:srgbClr val="FFFFFF"/>
                </a:solidFill>
                <a:latin typeface="Open Sans"/>
                <a:ea typeface="Open Sans"/>
                <a:cs typeface="Open Sans"/>
                <a:sym typeface="Open Sans"/>
              </a:rPr>
              <a:t>That's 83.5% — rounded to:</a:t>
            </a:r>
            <a:endParaRPr sz="1100"/>
          </a:p>
        </p:txBody>
      </p:sp>
      <p:sp>
        <p:nvSpPr>
          <p:cNvPr id="357" name="Google Shape;357;p27"/>
          <p:cNvSpPr txBox="1"/>
          <p:nvPr/>
        </p:nvSpPr>
        <p:spPr>
          <a:xfrm>
            <a:off x="617220" y="3623171"/>
            <a:ext cx="3771900" cy="831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5400">
                <a:solidFill>
                  <a:schemeClr val="accent6"/>
                </a:solidFill>
                <a:latin typeface="Open Sans"/>
                <a:ea typeface="Open Sans"/>
                <a:cs typeface="Open Sans"/>
                <a:sym typeface="Open Sans"/>
              </a:rPr>
              <a:t>84%</a:t>
            </a:r>
            <a:endParaRPr sz="1100">
              <a:solidFill>
                <a:schemeClr val="accent6"/>
              </a:solidFill>
            </a:endParaRPr>
          </a:p>
        </p:txBody>
      </p:sp>
      <p:sp>
        <p:nvSpPr>
          <p:cNvPr id="358" name="Google Shape;358;p27"/>
          <p:cNvSpPr/>
          <p:nvPr/>
        </p:nvSpPr>
        <p:spPr>
          <a:xfrm>
            <a:off x="4629148" y="2251574"/>
            <a:ext cx="4080600" cy="23166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59" name="Google Shape;359;p27"/>
          <p:cNvSpPr txBox="1"/>
          <p:nvPr/>
        </p:nvSpPr>
        <p:spPr>
          <a:xfrm>
            <a:off x="4800600" y="2388731"/>
            <a:ext cx="37719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F4F5F7"/>
                </a:solidFill>
                <a:latin typeface="Open Sans"/>
                <a:ea typeface="Open Sans"/>
                <a:cs typeface="Open Sans"/>
                <a:sym typeface="Open Sans"/>
              </a:rPr>
              <a:t>Priya's follow-up</a:t>
            </a:r>
            <a:endParaRPr sz="1100"/>
          </a:p>
        </p:txBody>
      </p:sp>
      <p:sp>
        <p:nvSpPr>
          <p:cNvPr id="360" name="Google Shape;360;p27"/>
          <p:cNvSpPr txBox="1"/>
          <p:nvPr/>
        </p:nvSpPr>
        <p:spPr>
          <a:xfrm>
            <a:off x="4800600" y="2800210"/>
            <a:ext cx="3771900" cy="1200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GB" sz="1300">
                <a:solidFill>
                  <a:srgbClr val="FFFFFF"/>
                </a:solidFill>
                <a:latin typeface="Open Sans"/>
                <a:ea typeface="Open Sans"/>
                <a:cs typeface="Open Sans"/>
                <a:sym typeface="Open Sans"/>
              </a:rPr>
              <a:t>“</a:t>
            </a:r>
            <a:r>
              <a:rPr b="0" i="1" lang="en-GB" sz="1300">
                <a:solidFill>
                  <a:srgbClr val="FFFFFF"/>
                </a:solidFill>
                <a:latin typeface="Open Sans"/>
                <a:ea typeface="Open Sans"/>
                <a:cs typeface="Open Sans"/>
                <a:sym typeface="Open Sans"/>
              </a:rPr>
              <a:t>So the model is EXACTLY 84% accurate?</a:t>
            </a:r>
            <a:r>
              <a:rPr i="1" lang="en-GB" sz="1300">
                <a:solidFill>
                  <a:srgbClr val="FFFFFF"/>
                </a:solidFill>
                <a:latin typeface="Open Sans"/>
                <a:ea typeface="Open Sans"/>
                <a:cs typeface="Open Sans"/>
                <a:sym typeface="Open Sans"/>
              </a:rPr>
              <a:t>”</a:t>
            </a:r>
            <a:endParaRPr i="1" sz="1100"/>
          </a:p>
          <a:p>
            <a:pPr indent="0" lvl="0" marL="0" marR="0" rtl="0" algn="l">
              <a:spcBef>
                <a:spcPts val="0"/>
              </a:spcBef>
              <a:spcAft>
                <a:spcPts val="0"/>
              </a:spcAft>
              <a:buNone/>
            </a:pPr>
            <a:r>
              <a:t/>
            </a:r>
            <a:endParaRPr b="0" sz="1300">
              <a:solidFill>
                <a:srgbClr val="FFFFFF"/>
              </a:solidFill>
              <a:latin typeface="Open Sans"/>
              <a:ea typeface="Open Sans"/>
              <a:cs typeface="Open Sans"/>
              <a:sym typeface="Open Sans"/>
            </a:endParaRPr>
          </a:p>
          <a:p>
            <a:pPr indent="0" lvl="0" marL="0" marR="0" rtl="0" algn="l">
              <a:spcBef>
                <a:spcPts val="0"/>
              </a:spcBef>
              <a:spcAft>
                <a:spcPts val="0"/>
              </a:spcAft>
              <a:buNone/>
            </a:pPr>
            <a:r>
              <a:rPr b="0" lang="en-GB" sz="1300">
                <a:solidFill>
                  <a:srgbClr val="FFFFFF"/>
                </a:solidFill>
                <a:latin typeface="Open Sans"/>
                <a:ea typeface="Open Sans"/>
                <a:cs typeface="Open Sans"/>
                <a:sym typeface="Open Sans"/>
              </a:rPr>
              <a:t>Sarah pauses. If she had labelled a different 200 reviews, would she get the same number?</a:t>
            </a:r>
            <a:endParaRPr sz="1100"/>
          </a:p>
          <a:p>
            <a:pPr indent="0" lvl="0" marL="0" marR="0" rtl="0" algn="l">
              <a:spcBef>
                <a:spcPts val="0"/>
              </a:spcBef>
              <a:spcAft>
                <a:spcPts val="0"/>
              </a:spcAft>
              <a:buNone/>
            </a:pPr>
            <a:r>
              <a:t/>
            </a:r>
            <a:endParaRPr b="0" sz="1300">
              <a:solidFill>
                <a:srgbClr val="FFFFFF"/>
              </a:solidFill>
              <a:latin typeface="Open Sans"/>
              <a:ea typeface="Open Sans"/>
              <a:cs typeface="Open Sans"/>
              <a:sym typeface="Open Sans"/>
            </a:endParaRPr>
          </a:p>
          <a:p>
            <a:pPr indent="0" lvl="0" marL="0" marR="0" rtl="0" algn="l">
              <a:spcBef>
                <a:spcPts val="0"/>
              </a:spcBef>
              <a:spcAft>
                <a:spcPts val="0"/>
              </a:spcAft>
              <a:buNone/>
            </a:pPr>
            <a:r>
              <a:rPr b="0" lang="en-GB" sz="1300">
                <a:solidFill>
                  <a:srgbClr val="FFFFFF"/>
                </a:solidFill>
                <a:latin typeface="Open Sans"/>
                <a:ea typeface="Open Sans"/>
                <a:cs typeface="Open Sans"/>
                <a:sym typeface="Open Sans"/>
              </a:rPr>
              <a:t>Probably not. But how close?</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9"/>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397" name="Google Shape;397;p29"/>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98" name="Google Shape;398;p29"/>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The Central Limit Theorem (CLT)</a:t>
            </a:r>
            <a:endParaRPr sz="1100"/>
          </a:p>
        </p:txBody>
      </p:sp>
      <p:sp>
        <p:nvSpPr>
          <p:cNvPr id="399" name="Google Shape;399;p29"/>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Why Sarah's histogram looks bell-shaped</a:t>
            </a:r>
            <a:endParaRPr sz="1100"/>
          </a:p>
        </p:txBody>
      </p:sp>
      <p:sp>
        <p:nvSpPr>
          <p:cNvPr id="400" name="Google Shape;400;p29"/>
          <p:cNvSpPr/>
          <p:nvPr/>
        </p:nvSpPr>
        <p:spPr>
          <a:xfrm>
            <a:off x="411480" y="1193292"/>
            <a:ext cx="8298300" cy="14046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401" name="Google Shape;401;p29"/>
          <p:cNvSpPr txBox="1"/>
          <p:nvPr/>
        </p:nvSpPr>
        <p:spPr>
          <a:xfrm>
            <a:off x="617220" y="1405889"/>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The Central Limit Theorem, in plain English</a:t>
            </a:r>
            <a:endParaRPr sz="1100"/>
          </a:p>
        </p:txBody>
      </p:sp>
      <p:sp>
        <p:nvSpPr>
          <p:cNvPr id="402" name="Google Shape;402;p29"/>
          <p:cNvSpPr txBox="1"/>
          <p:nvPr/>
        </p:nvSpPr>
        <p:spPr>
          <a:xfrm>
            <a:off x="617225" y="1754397"/>
            <a:ext cx="7886700" cy="538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1" lang="en-GB" sz="1400">
                <a:solidFill>
                  <a:srgbClr val="FFFFFF"/>
                </a:solidFill>
                <a:latin typeface="Open Sans"/>
                <a:ea typeface="Open Sans"/>
                <a:cs typeface="Open Sans"/>
                <a:sym typeface="Open Sans"/>
              </a:rPr>
              <a:t>"Even if the underlying data isn</a:t>
            </a:r>
            <a:r>
              <a:rPr i="1" lang="en-GB">
                <a:solidFill>
                  <a:srgbClr val="FFFFFF"/>
                </a:solidFill>
                <a:latin typeface="Open Sans"/>
                <a:ea typeface="Open Sans"/>
                <a:cs typeface="Open Sans"/>
                <a:sym typeface="Open Sans"/>
              </a:rPr>
              <a:t>’</a:t>
            </a:r>
            <a:r>
              <a:rPr b="0" i="1" lang="en-GB" sz="1400">
                <a:solidFill>
                  <a:srgbClr val="FFFFFF"/>
                </a:solidFill>
                <a:latin typeface="Open Sans"/>
                <a:ea typeface="Open Sans"/>
                <a:cs typeface="Open Sans"/>
                <a:sym typeface="Open Sans"/>
              </a:rPr>
              <a:t xml:space="preserve">t normally distributed, the </a:t>
            </a:r>
            <a:r>
              <a:rPr b="1" i="1" lang="en-GB" sz="1400">
                <a:solidFill>
                  <a:srgbClr val="FFFFFF"/>
                </a:solidFill>
                <a:latin typeface="Open Sans"/>
                <a:ea typeface="Open Sans"/>
                <a:cs typeface="Open Sans"/>
                <a:sym typeface="Open Sans"/>
              </a:rPr>
              <a:t>AVERAGE</a:t>
            </a:r>
            <a:r>
              <a:rPr b="0" i="1" lang="en-GB" sz="1400">
                <a:solidFill>
                  <a:srgbClr val="FFFFFF"/>
                </a:solidFill>
                <a:latin typeface="Open Sans"/>
                <a:ea typeface="Open Sans"/>
                <a:cs typeface="Open Sans"/>
                <a:sym typeface="Open Sans"/>
              </a:rPr>
              <a:t xml:space="preserve"> of many samples from that data will follow a normal distribution. The larger each sample, the tighter the normal becomes."</a:t>
            </a:r>
            <a:endParaRPr i="1" sz="1100"/>
          </a:p>
        </p:txBody>
      </p:sp>
      <p:sp>
        <p:nvSpPr>
          <p:cNvPr id="403" name="Google Shape;403;p29"/>
          <p:cNvSpPr txBox="1"/>
          <p:nvPr/>
        </p:nvSpPr>
        <p:spPr>
          <a:xfrm>
            <a:off x="411480" y="2674620"/>
            <a:ext cx="82983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2C5697"/>
                </a:solidFill>
                <a:latin typeface="Open Sans"/>
                <a:ea typeface="Open Sans"/>
                <a:cs typeface="Open Sans"/>
                <a:sym typeface="Open Sans"/>
              </a:rPr>
              <a:t>Three things this lets you do</a:t>
            </a:r>
            <a:endParaRPr sz="1100"/>
          </a:p>
        </p:txBody>
      </p:sp>
      <p:sp>
        <p:nvSpPr>
          <p:cNvPr id="404" name="Google Shape;404;p29"/>
          <p:cNvSpPr txBox="1"/>
          <p:nvPr/>
        </p:nvSpPr>
        <p:spPr>
          <a:xfrm>
            <a:off x="960120" y="308610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Open Sans"/>
                <a:ea typeface="Open Sans"/>
                <a:cs typeface="Open Sans"/>
                <a:sym typeface="Open Sans"/>
              </a:rPr>
              <a:t>Compute confidence intervals on almost any accuracy metric</a:t>
            </a:r>
            <a:endParaRPr sz="1100"/>
          </a:p>
        </p:txBody>
      </p:sp>
      <p:sp>
        <p:nvSpPr>
          <p:cNvPr id="405" name="Google Shape;405;p29"/>
          <p:cNvSpPr txBox="1"/>
          <p:nvPr/>
        </p:nvSpPr>
        <p:spPr>
          <a:xfrm>
            <a:off x="960120" y="3360420"/>
            <a:ext cx="77496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100">
                <a:solidFill>
                  <a:srgbClr val="333D4D"/>
                </a:solidFill>
                <a:latin typeface="Open Sans"/>
                <a:ea typeface="Open Sans"/>
                <a:cs typeface="Open Sans"/>
                <a:sym typeface="Open Sans"/>
              </a:rPr>
              <a:t>(model accuracy, conversion rate, click-through rate, complaint rate)</a:t>
            </a:r>
            <a:endParaRPr sz="1100"/>
          </a:p>
        </p:txBody>
      </p:sp>
      <p:sp>
        <p:nvSpPr>
          <p:cNvPr id="406" name="Google Shape;406;p29"/>
          <p:cNvSpPr txBox="1"/>
          <p:nvPr/>
        </p:nvSpPr>
        <p:spPr>
          <a:xfrm>
            <a:off x="960120" y="363474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Open Sans"/>
                <a:ea typeface="Open Sans"/>
                <a:cs typeface="Open Sans"/>
                <a:sym typeface="Open Sans"/>
              </a:rPr>
              <a:t>Run hypothesis tests without assuming the raw data is normal</a:t>
            </a:r>
            <a:endParaRPr sz="1100"/>
          </a:p>
        </p:txBody>
      </p:sp>
      <p:sp>
        <p:nvSpPr>
          <p:cNvPr id="407" name="Google Shape;407;p29"/>
          <p:cNvSpPr txBox="1"/>
          <p:nvPr/>
        </p:nvSpPr>
        <p:spPr>
          <a:xfrm>
            <a:off x="960120" y="3909060"/>
            <a:ext cx="77496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100">
                <a:solidFill>
                  <a:srgbClr val="333D4D"/>
                </a:solidFill>
                <a:latin typeface="Open Sans"/>
                <a:ea typeface="Open Sans"/>
                <a:cs typeface="Open Sans"/>
                <a:sym typeface="Open Sans"/>
              </a:rPr>
              <a:t>(t-test, z-test, A/B tests — all rely on the CLT)</a:t>
            </a:r>
            <a:endParaRPr sz="1100"/>
          </a:p>
        </p:txBody>
      </p:sp>
      <p:grpSp>
        <p:nvGrpSpPr>
          <p:cNvPr id="408" name="Google Shape;408;p29"/>
          <p:cNvGrpSpPr/>
          <p:nvPr/>
        </p:nvGrpSpPr>
        <p:grpSpPr>
          <a:xfrm>
            <a:off x="411480" y="2973620"/>
            <a:ext cx="411600" cy="1663980"/>
            <a:chOff x="411480" y="3086100"/>
            <a:chExt cx="411600" cy="1663980"/>
          </a:xfrm>
        </p:grpSpPr>
        <p:sp>
          <p:nvSpPr>
            <p:cNvPr id="409" name="Google Shape;409;p29"/>
            <p:cNvSpPr/>
            <p:nvPr/>
          </p:nvSpPr>
          <p:spPr>
            <a:xfrm>
              <a:off x="411480" y="3086100"/>
              <a:ext cx="411600" cy="5667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410" name="Google Shape;410;p29"/>
            <p:cNvSpPr txBox="1"/>
            <p:nvPr/>
          </p:nvSpPr>
          <p:spPr>
            <a:xfrm>
              <a:off x="411480" y="3175254"/>
              <a:ext cx="4116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800">
                  <a:solidFill>
                    <a:srgbClr val="FFFFFF"/>
                  </a:solidFill>
                  <a:latin typeface="Open Sans"/>
                  <a:ea typeface="Open Sans"/>
                  <a:cs typeface="Open Sans"/>
                  <a:sym typeface="Open Sans"/>
                </a:rPr>
                <a:t>1</a:t>
              </a:r>
              <a:endParaRPr sz="1100"/>
            </a:p>
          </p:txBody>
        </p:sp>
        <p:sp>
          <p:nvSpPr>
            <p:cNvPr id="411" name="Google Shape;411;p29"/>
            <p:cNvSpPr/>
            <p:nvPr/>
          </p:nvSpPr>
          <p:spPr>
            <a:xfrm>
              <a:off x="411480" y="3634740"/>
              <a:ext cx="411600" cy="5667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412" name="Google Shape;412;p29"/>
            <p:cNvSpPr txBox="1"/>
            <p:nvPr/>
          </p:nvSpPr>
          <p:spPr>
            <a:xfrm>
              <a:off x="411480" y="3723894"/>
              <a:ext cx="4116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800">
                  <a:solidFill>
                    <a:srgbClr val="FFFFFF"/>
                  </a:solidFill>
                  <a:latin typeface="Open Sans"/>
                  <a:ea typeface="Open Sans"/>
                  <a:cs typeface="Open Sans"/>
                  <a:sym typeface="Open Sans"/>
                </a:rPr>
                <a:t>2</a:t>
              </a:r>
              <a:endParaRPr sz="1100"/>
            </a:p>
          </p:txBody>
        </p:sp>
        <p:sp>
          <p:nvSpPr>
            <p:cNvPr id="413" name="Google Shape;413;p29"/>
            <p:cNvSpPr/>
            <p:nvPr/>
          </p:nvSpPr>
          <p:spPr>
            <a:xfrm>
              <a:off x="411480" y="4183380"/>
              <a:ext cx="411600" cy="5667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414" name="Google Shape;414;p29"/>
            <p:cNvSpPr txBox="1"/>
            <p:nvPr/>
          </p:nvSpPr>
          <p:spPr>
            <a:xfrm>
              <a:off x="411480" y="4272534"/>
              <a:ext cx="4116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800">
                  <a:solidFill>
                    <a:srgbClr val="FFFFFF"/>
                  </a:solidFill>
                  <a:latin typeface="Open Sans"/>
                  <a:ea typeface="Open Sans"/>
                  <a:cs typeface="Open Sans"/>
                  <a:sym typeface="Open Sans"/>
                </a:rPr>
                <a:t>3</a:t>
              </a:r>
              <a:endParaRPr sz="1100"/>
            </a:p>
          </p:txBody>
        </p:sp>
      </p:grpSp>
      <p:sp>
        <p:nvSpPr>
          <p:cNvPr id="415" name="Google Shape;415;p29"/>
          <p:cNvSpPr txBox="1"/>
          <p:nvPr/>
        </p:nvSpPr>
        <p:spPr>
          <a:xfrm>
            <a:off x="960120" y="418338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Open Sans"/>
                <a:ea typeface="Open Sans"/>
                <a:cs typeface="Open Sans"/>
                <a:sym typeface="Open Sans"/>
              </a:rPr>
              <a:t>Reason about sample size</a:t>
            </a:r>
            <a:endParaRPr sz="1100"/>
          </a:p>
        </p:txBody>
      </p:sp>
      <p:sp>
        <p:nvSpPr>
          <p:cNvPr id="416" name="Google Shape;416;p29"/>
          <p:cNvSpPr txBox="1"/>
          <p:nvPr/>
        </p:nvSpPr>
        <p:spPr>
          <a:xfrm>
            <a:off x="960120" y="4457700"/>
            <a:ext cx="77496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100">
                <a:solidFill>
                  <a:srgbClr val="333D4D"/>
                </a:solidFill>
                <a:latin typeface="Open Sans"/>
                <a:ea typeface="Open Sans"/>
                <a:cs typeface="Open Sans"/>
                <a:sym typeface="Open Sans"/>
              </a:rPr>
              <a:t>(want a tighter estimate? Increase n. The bell curve gets narrower.)</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2"/>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501" name="Google Shape;501;p32"/>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02" name="Google Shape;502;p32"/>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Confidence Intervals</a:t>
            </a:r>
            <a:endParaRPr sz="1100"/>
          </a:p>
        </p:txBody>
      </p:sp>
      <p:sp>
        <p:nvSpPr>
          <p:cNvPr id="503" name="Google Shape;503;p32"/>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The bracket around every accuracy number</a:t>
            </a:r>
            <a:endParaRPr sz="1100"/>
          </a:p>
        </p:txBody>
      </p:sp>
      <p:sp>
        <p:nvSpPr>
          <p:cNvPr id="504" name="Google Shape;504;p32"/>
          <p:cNvSpPr/>
          <p:nvPr/>
        </p:nvSpPr>
        <p:spPr>
          <a:xfrm>
            <a:off x="411475" y="1212800"/>
            <a:ext cx="8355300" cy="1049400"/>
          </a:xfrm>
          <a:prstGeom prst="rect">
            <a:avLst/>
          </a:prstGeom>
          <a:solidFill>
            <a:srgbClr val="1B2A4A"/>
          </a:solidFill>
          <a:ln>
            <a:noFill/>
          </a:ln>
        </p:spPr>
        <p:txBody>
          <a:bodyPr anchorCtr="0" anchor="t" bIns="108000" lIns="108000" spcFirstLastPara="1" rIns="108000" wrap="square" tIns="108000">
            <a:noAutofit/>
          </a:bodyPr>
          <a:lstStyle/>
          <a:p>
            <a:pPr indent="0" lvl="0" marL="0" rtl="0" algn="l">
              <a:lnSpc>
                <a:spcPct val="115000"/>
              </a:lnSpc>
              <a:spcBef>
                <a:spcPts val="0"/>
              </a:spcBef>
              <a:spcAft>
                <a:spcPts val="0"/>
              </a:spcAft>
              <a:buClr>
                <a:schemeClr val="dk1"/>
              </a:buClr>
              <a:buFont typeface="Arial"/>
              <a:buNone/>
            </a:pPr>
            <a:r>
              <a:rPr lang="en-GB" sz="1300">
                <a:solidFill>
                  <a:schemeClr val="lt1"/>
                </a:solidFill>
                <a:latin typeface="Open Sans"/>
                <a:ea typeface="Open Sans"/>
                <a:cs typeface="Open Sans"/>
                <a:sym typeface="Open Sans"/>
              </a:rPr>
              <a:t>Plain English</a:t>
            </a:r>
            <a:endParaRPr sz="1300">
              <a:solidFill>
                <a:schemeClr val="lt1"/>
              </a:solidFill>
              <a:latin typeface="Open Sans"/>
              <a:ea typeface="Open Sans"/>
              <a:cs typeface="Open Sans"/>
              <a:sym typeface="Open Sans"/>
            </a:endParaRPr>
          </a:p>
          <a:p>
            <a:pPr indent="0" lvl="0" marL="0" rtl="0" algn="l">
              <a:lnSpc>
                <a:spcPct val="115000"/>
              </a:lnSpc>
              <a:spcBef>
                <a:spcPts val="1000"/>
              </a:spcBef>
              <a:spcAft>
                <a:spcPts val="1000"/>
              </a:spcAft>
              <a:buNone/>
            </a:pPr>
            <a:r>
              <a:rPr i="1" lang="en-GB" sz="1300">
                <a:solidFill>
                  <a:schemeClr val="lt1"/>
                </a:solidFill>
                <a:latin typeface="Open Sans"/>
                <a:ea typeface="Open Sans"/>
                <a:cs typeface="Open Sans"/>
                <a:sym typeface="Open Sans"/>
              </a:rPr>
              <a:t xml:space="preserve">"A 95% confidence interval is a range that captures the true value about 95% of the time, </a:t>
            </a:r>
            <a:r>
              <a:rPr b="1" i="1" lang="en-GB" sz="1300">
                <a:solidFill>
                  <a:schemeClr val="lt1"/>
                </a:solidFill>
                <a:latin typeface="Open Sans"/>
                <a:ea typeface="Open Sans"/>
                <a:cs typeface="Open Sans"/>
                <a:sym typeface="Open Sans"/>
              </a:rPr>
              <a:t>IF</a:t>
            </a:r>
            <a:r>
              <a:rPr i="1" lang="en-GB" sz="1300">
                <a:solidFill>
                  <a:schemeClr val="lt1"/>
                </a:solidFill>
                <a:latin typeface="Open Sans"/>
                <a:ea typeface="Open Sans"/>
                <a:cs typeface="Open Sans"/>
                <a:sym typeface="Open Sans"/>
              </a:rPr>
              <a:t xml:space="preserve"> we were to repeat the experiment many, many times."</a:t>
            </a:r>
            <a:endParaRPr i="1" sz="1300">
              <a:solidFill>
                <a:schemeClr val="lt1"/>
              </a:solidFill>
              <a:latin typeface="Open Sans"/>
              <a:ea typeface="Open Sans"/>
              <a:cs typeface="Open Sans"/>
              <a:sym typeface="Open Sans"/>
            </a:endParaRPr>
          </a:p>
          <a:p>
            <a:pPr indent="0" lvl="0" marL="0" rtl="0" algn="l">
              <a:lnSpc>
                <a:spcPct val="115000"/>
              </a:lnSpc>
              <a:spcBef>
                <a:spcPts val="1000"/>
              </a:spcBef>
              <a:spcAft>
                <a:spcPts val="1000"/>
              </a:spcAft>
              <a:buNone/>
            </a:pPr>
            <a:r>
              <a:rPr i="1" lang="en-GB" sz="1300">
                <a:solidFill>
                  <a:schemeClr val="lt1"/>
                </a:solidFill>
                <a:latin typeface="Open Sans"/>
                <a:ea typeface="Open Sans"/>
                <a:cs typeface="Open Sans"/>
                <a:sym typeface="Open Sans"/>
              </a:rPr>
              <a:t xml:space="preserve">Careful: the 95% describes the METHOD, not this one interval — avoid ‘there’s a 95% chance the true value is in this range’.</a:t>
            </a:r>
            <a:endParaRPr i="1" sz="1300">
              <a:solidFill>
                <a:schemeClr val="lt1"/>
              </a:solidFill>
              <a:latin typeface="Open Sans"/>
              <a:ea typeface="Open Sans"/>
              <a:cs typeface="Open Sans"/>
              <a:sym typeface="Open Sans"/>
            </a:endParaRPr>
          </a:p>
        </p:txBody>
      </p:sp>
      <p:sp>
        <p:nvSpPr>
          <p:cNvPr id="505" name="Google Shape;505;p32"/>
          <p:cNvSpPr txBox="1"/>
          <p:nvPr/>
        </p:nvSpPr>
        <p:spPr>
          <a:xfrm>
            <a:off x="549025" y="2471688"/>
            <a:ext cx="79545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Open Sans"/>
                <a:ea typeface="Open Sans"/>
                <a:cs typeface="Open Sans"/>
                <a:sym typeface="Open Sans"/>
              </a:rPr>
              <a:t>Formula for a proportion (like accuracy)</a:t>
            </a:r>
            <a:endParaRPr sz="1300"/>
          </a:p>
        </p:txBody>
      </p:sp>
      <p:sp>
        <p:nvSpPr>
          <p:cNvPr id="506" name="Google Shape;506;p32"/>
          <p:cNvSpPr/>
          <p:nvPr/>
        </p:nvSpPr>
        <p:spPr>
          <a:xfrm>
            <a:off x="411475" y="4058549"/>
            <a:ext cx="8355300" cy="7407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lt1"/>
              </a:solidFill>
              <a:latin typeface="Open Sans"/>
              <a:ea typeface="Open Sans"/>
              <a:cs typeface="Open Sans"/>
              <a:sym typeface="Open Sans"/>
            </a:endParaRPr>
          </a:p>
        </p:txBody>
      </p:sp>
      <p:sp>
        <p:nvSpPr>
          <p:cNvPr id="507" name="Google Shape;507;p32"/>
          <p:cNvSpPr txBox="1"/>
          <p:nvPr/>
        </p:nvSpPr>
        <p:spPr>
          <a:xfrm>
            <a:off x="582920" y="4149095"/>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FFFFFF"/>
                </a:solidFill>
                <a:latin typeface="Open Sans"/>
                <a:ea typeface="Open Sans"/>
                <a:cs typeface="Open Sans"/>
                <a:sym typeface="Open Sans"/>
              </a:rPr>
              <a:t>Sarah's 84% from 200 reviews</a:t>
            </a:r>
            <a:endParaRPr sz="1300"/>
          </a:p>
        </p:txBody>
      </p:sp>
      <p:sp>
        <p:nvSpPr>
          <p:cNvPr id="508" name="Google Shape;508;p32"/>
          <p:cNvSpPr txBox="1"/>
          <p:nvPr/>
        </p:nvSpPr>
        <p:spPr>
          <a:xfrm>
            <a:off x="582920" y="4457690"/>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DDE1E6"/>
                </a:solidFill>
                <a:latin typeface="Consolas"/>
                <a:ea typeface="Consolas"/>
                <a:cs typeface="Consolas"/>
                <a:sym typeface="Consolas"/>
              </a:rPr>
              <a:t>p̂ = 0.84,  n = 200  →  CI = [78.4%, 89.6%]</a:t>
            </a:r>
            <a:endParaRPr sz="1300"/>
          </a:p>
        </p:txBody>
      </p:sp>
      <p:pic>
        <p:nvPicPr>
          <p:cNvPr id="509" name="Google Shape;509;p32"/>
          <p:cNvPicPr preferRelativeResize="0"/>
          <p:nvPr/>
        </p:nvPicPr>
        <p:blipFill>
          <a:blip r:embed="rId3">
            <a:alphaModFix/>
          </a:blip>
          <a:stretch>
            <a:fillRect/>
          </a:stretch>
        </p:blipFill>
        <p:spPr>
          <a:xfrm>
            <a:off x="834926" y="2827300"/>
            <a:ext cx="3236250" cy="880350"/>
          </a:xfrm>
          <a:prstGeom prst="rect">
            <a:avLst/>
          </a:prstGeom>
          <a:noFill/>
          <a:ln>
            <a:noFill/>
          </a:ln>
        </p:spPr>
      </p:pic>
      <p:pic>
        <p:nvPicPr>
          <p:cNvPr id="510" name="Google Shape;510;p32"/>
          <p:cNvPicPr preferRelativeResize="0"/>
          <p:nvPr/>
        </p:nvPicPr>
        <p:blipFill>
          <a:blip r:embed="rId4">
            <a:alphaModFix/>
          </a:blip>
          <a:stretch>
            <a:fillRect/>
          </a:stretch>
        </p:blipFill>
        <p:spPr>
          <a:xfrm>
            <a:off x="4428125" y="2827300"/>
            <a:ext cx="3261045" cy="880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5"/>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550" name="Google Shape;550;p35"/>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51" name="Google Shape;551;p35"/>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Thursday — Aisha's Apology Coupon Idea</a:t>
            </a:r>
            <a:endParaRPr sz="1100"/>
          </a:p>
        </p:txBody>
      </p:sp>
      <p:sp>
        <p:nvSpPr>
          <p:cNvPr id="552" name="Google Shape;552;p35"/>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Will it reduce complaints — or is it expensive noise?</a:t>
            </a:r>
            <a:endParaRPr sz="1100"/>
          </a:p>
        </p:txBody>
      </p:sp>
      <p:sp>
        <p:nvSpPr>
          <p:cNvPr id="553" name="Google Shape;553;p35"/>
          <p:cNvSpPr/>
          <p:nvPr/>
        </p:nvSpPr>
        <p:spPr>
          <a:xfrm>
            <a:off x="411480" y="1195604"/>
            <a:ext cx="205800" cy="1132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54" name="Google Shape;554;p35"/>
          <p:cNvSpPr/>
          <p:nvPr/>
        </p:nvSpPr>
        <p:spPr>
          <a:xfrm>
            <a:off x="617220" y="1195604"/>
            <a:ext cx="8092500" cy="11328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55" name="Google Shape;555;p35"/>
          <p:cNvSpPr txBox="1"/>
          <p:nvPr/>
        </p:nvSpPr>
        <p:spPr>
          <a:xfrm>
            <a:off x="788670" y="1298474"/>
            <a:ext cx="7749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2C5697"/>
                </a:solidFill>
                <a:latin typeface="Open Sans"/>
                <a:ea typeface="Open Sans"/>
                <a:cs typeface="Open Sans"/>
                <a:sym typeface="Open Sans"/>
              </a:rPr>
              <a:t>Aisha · Customer Service</a:t>
            </a:r>
            <a:endParaRPr sz="1100"/>
          </a:p>
        </p:txBody>
      </p:sp>
      <p:sp>
        <p:nvSpPr>
          <p:cNvPr id="556" name="Google Shape;556;p35"/>
          <p:cNvSpPr txBox="1"/>
          <p:nvPr/>
        </p:nvSpPr>
        <p:spPr>
          <a:xfrm>
            <a:off x="788670" y="1572794"/>
            <a:ext cx="7749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Send a 10% apology coupon to every NEGATIVE-tagged customer.</a:t>
            </a:r>
            <a:endParaRPr sz="1100"/>
          </a:p>
        </p:txBody>
      </p:sp>
      <p:sp>
        <p:nvSpPr>
          <p:cNvPr id="557" name="Google Shape;557;p35"/>
          <p:cNvSpPr txBox="1"/>
          <p:nvPr/>
        </p:nvSpPr>
        <p:spPr>
          <a:xfrm>
            <a:off x="788670" y="1847114"/>
            <a:ext cx="7749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1B2A4A"/>
                </a:solidFill>
                <a:latin typeface="Open Sans"/>
                <a:ea typeface="Open Sans"/>
                <a:cs typeface="Open Sans"/>
                <a:sym typeface="Open Sans"/>
              </a:rPr>
              <a:t>She believes it'll turn some unhappy customers around.</a:t>
            </a:r>
            <a:endParaRPr sz="1200"/>
          </a:p>
        </p:txBody>
      </p:sp>
      <p:sp>
        <p:nvSpPr>
          <p:cNvPr id="558" name="Google Shape;558;p35"/>
          <p:cNvSpPr/>
          <p:nvPr/>
        </p:nvSpPr>
        <p:spPr>
          <a:xfrm>
            <a:off x="411480" y="2258594"/>
            <a:ext cx="205800" cy="1132800"/>
          </a:xfrm>
          <a:prstGeom prst="rect">
            <a:avLst/>
          </a:prstGeom>
          <a:solidFill>
            <a:srgbClr val="C8102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59" name="Google Shape;559;p35"/>
          <p:cNvSpPr/>
          <p:nvPr/>
        </p:nvSpPr>
        <p:spPr>
          <a:xfrm>
            <a:off x="617220" y="2258594"/>
            <a:ext cx="8092500" cy="11328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60" name="Google Shape;560;p35"/>
          <p:cNvSpPr txBox="1"/>
          <p:nvPr/>
        </p:nvSpPr>
        <p:spPr>
          <a:xfrm>
            <a:off x="788670" y="2361464"/>
            <a:ext cx="7749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C8102E"/>
                </a:solidFill>
                <a:latin typeface="Open Sans"/>
                <a:ea typeface="Open Sans"/>
                <a:cs typeface="Open Sans"/>
                <a:sym typeface="Open Sans"/>
              </a:rPr>
              <a:t>Marcus · CTO</a:t>
            </a:r>
            <a:endParaRPr sz="1100"/>
          </a:p>
        </p:txBody>
      </p:sp>
      <p:sp>
        <p:nvSpPr>
          <p:cNvPr id="561" name="Google Shape;561;p35"/>
          <p:cNvSpPr txBox="1"/>
          <p:nvPr/>
        </p:nvSpPr>
        <p:spPr>
          <a:xfrm>
            <a:off x="788670" y="2635784"/>
            <a:ext cx="7749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Thousands of pounds a week + engineering work to wire the trigger.</a:t>
            </a:r>
            <a:endParaRPr sz="1100"/>
          </a:p>
        </p:txBody>
      </p:sp>
      <p:sp>
        <p:nvSpPr>
          <p:cNvPr id="562" name="Google Shape;562;p35"/>
          <p:cNvSpPr txBox="1"/>
          <p:nvPr/>
        </p:nvSpPr>
        <p:spPr>
          <a:xfrm>
            <a:off x="788670" y="2910104"/>
            <a:ext cx="7749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1B2A4A"/>
                </a:solidFill>
                <a:latin typeface="Open Sans"/>
                <a:ea typeface="Open Sans"/>
                <a:cs typeface="Open Sans"/>
                <a:sym typeface="Open Sans"/>
              </a:rPr>
              <a:t>He wants evidence before signing off.</a:t>
            </a:r>
            <a:endParaRPr sz="1200"/>
          </a:p>
        </p:txBody>
      </p:sp>
      <p:sp>
        <p:nvSpPr>
          <p:cNvPr id="563" name="Google Shape;563;p35"/>
          <p:cNvSpPr/>
          <p:nvPr/>
        </p:nvSpPr>
        <p:spPr>
          <a:xfrm>
            <a:off x="411480" y="3321584"/>
            <a:ext cx="205800" cy="11328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64" name="Google Shape;564;p35"/>
          <p:cNvSpPr/>
          <p:nvPr/>
        </p:nvSpPr>
        <p:spPr>
          <a:xfrm>
            <a:off x="617220" y="3321584"/>
            <a:ext cx="8092500" cy="11328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65" name="Google Shape;565;p35"/>
          <p:cNvSpPr txBox="1"/>
          <p:nvPr/>
        </p:nvSpPr>
        <p:spPr>
          <a:xfrm>
            <a:off x="788670" y="3424454"/>
            <a:ext cx="7749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1B2A4A"/>
                </a:solidFill>
                <a:latin typeface="Open Sans"/>
                <a:ea typeface="Open Sans"/>
                <a:cs typeface="Open Sans"/>
                <a:sym typeface="Open Sans"/>
              </a:rPr>
              <a:t>Sarah · Data Analyst</a:t>
            </a:r>
            <a:endParaRPr sz="1100"/>
          </a:p>
        </p:txBody>
      </p:sp>
      <p:sp>
        <p:nvSpPr>
          <p:cNvPr id="566" name="Google Shape;566;p35"/>
          <p:cNvSpPr txBox="1"/>
          <p:nvPr/>
        </p:nvSpPr>
        <p:spPr>
          <a:xfrm>
            <a:off x="788670" y="3698774"/>
            <a:ext cx="7749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Test it properly. Define the hypothesis. Run an A/B test. Compute a p-value.</a:t>
            </a:r>
            <a:endParaRPr sz="1100"/>
          </a:p>
        </p:txBody>
      </p:sp>
      <p:sp>
        <p:nvSpPr>
          <p:cNvPr id="567" name="Google Shape;567;p35"/>
          <p:cNvSpPr txBox="1"/>
          <p:nvPr/>
        </p:nvSpPr>
        <p:spPr>
          <a:xfrm>
            <a:off x="788670" y="3973094"/>
            <a:ext cx="7749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1B2A4A"/>
                </a:solidFill>
                <a:latin typeface="Open Sans"/>
                <a:ea typeface="Open Sans"/>
                <a:cs typeface="Open Sans"/>
                <a:sym typeface="Open Sans"/>
              </a:rPr>
              <a:t>Her L02 toolkit makes her the right person to answer.</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37"/>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600" name="Google Shape;600;p37"/>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01" name="Google Shape;601;p37"/>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The P-value</a:t>
            </a:r>
            <a:endParaRPr sz="1100"/>
          </a:p>
        </p:txBody>
      </p:sp>
      <p:sp>
        <p:nvSpPr>
          <p:cNvPr id="602" name="Google Shape;602;p37"/>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The probability that the data is just noise</a:t>
            </a:r>
            <a:endParaRPr sz="1300">
              <a:latin typeface="Open Sans"/>
              <a:ea typeface="Open Sans"/>
              <a:cs typeface="Open Sans"/>
              <a:sym typeface="Open Sans"/>
            </a:endParaRPr>
          </a:p>
        </p:txBody>
      </p:sp>
      <p:sp>
        <p:nvSpPr>
          <p:cNvPr id="603" name="Google Shape;603;p37"/>
          <p:cNvSpPr/>
          <p:nvPr/>
        </p:nvSpPr>
        <p:spPr>
          <a:xfrm>
            <a:off x="411480" y="1035279"/>
            <a:ext cx="8298300" cy="12138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lt1"/>
              </a:solidFill>
              <a:latin typeface="Open Sans"/>
              <a:ea typeface="Open Sans"/>
              <a:cs typeface="Open Sans"/>
              <a:sym typeface="Open Sans"/>
            </a:endParaRPr>
          </a:p>
        </p:txBody>
      </p:sp>
      <p:sp>
        <p:nvSpPr>
          <p:cNvPr id="604" name="Google Shape;604;p37"/>
          <p:cNvSpPr txBox="1"/>
          <p:nvPr/>
        </p:nvSpPr>
        <p:spPr>
          <a:xfrm>
            <a:off x="617220" y="1175014"/>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F4F5F7"/>
                </a:solidFill>
                <a:latin typeface="Open Sans"/>
                <a:ea typeface="Open Sans"/>
                <a:cs typeface="Open Sans"/>
                <a:sym typeface="Open Sans"/>
              </a:rPr>
              <a:t>Plain English</a:t>
            </a:r>
            <a:endParaRPr sz="1300">
              <a:latin typeface="Open Sans"/>
              <a:ea typeface="Open Sans"/>
              <a:cs typeface="Open Sans"/>
              <a:sym typeface="Open Sans"/>
            </a:endParaRPr>
          </a:p>
        </p:txBody>
      </p:sp>
      <p:sp>
        <p:nvSpPr>
          <p:cNvPr id="605" name="Google Shape;605;p37"/>
          <p:cNvSpPr txBox="1"/>
          <p:nvPr/>
        </p:nvSpPr>
        <p:spPr>
          <a:xfrm>
            <a:off x="1164750" y="1519875"/>
            <a:ext cx="6814500" cy="43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1" lang="en-GB" sz="1300">
                <a:solidFill>
                  <a:srgbClr val="FFFFFF"/>
                </a:solidFill>
                <a:latin typeface="Open Sans"/>
                <a:ea typeface="Open Sans"/>
                <a:cs typeface="Open Sans"/>
                <a:sym typeface="Open Sans"/>
              </a:rPr>
              <a:t>"P = P(data this extreme | null hypothesis is true). If p is small, the data would be unlikely under H₀, so we reject H₀."</a:t>
            </a:r>
            <a:endParaRPr i="1" sz="1300">
              <a:latin typeface="Open Sans"/>
              <a:ea typeface="Open Sans"/>
              <a:cs typeface="Open Sans"/>
              <a:sym typeface="Open Sans"/>
            </a:endParaRPr>
          </a:p>
        </p:txBody>
      </p:sp>
      <p:sp>
        <p:nvSpPr>
          <p:cNvPr id="606" name="Google Shape;606;p37"/>
          <p:cNvSpPr txBox="1"/>
          <p:nvPr/>
        </p:nvSpPr>
        <p:spPr>
          <a:xfrm>
            <a:off x="411480" y="2537460"/>
            <a:ext cx="829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2C5697"/>
                </a:solidFill>
                <a:latin typeface="Open Sans"/>
                <a:ea typeface="Open Sans"/>
                <a:cs typeface="Open Sans"/>
                <a:sym typeface="Open Sans"/>
              </a:rPr>
              <a:t>Standard decision rule (α = 0.05):</a:t>
            </a:r>
            <a:endParaRPr sz="1300">
              <a:latin typeface="Open Sans"/>
              <a:ea typeface="Open Sans"/>
              <a:cs typeface="Open Sans"/>
              <a:sym typeface="Open Sans"/>
            </a:endParaRPr>
          </a:p>
        </p:txBody>
      </p:sp>
      <p:sp>
        <p:nvSpPr>
          <p:cNvPr id="607" name="Google Shape;607;p37"/>
          <p:cNvSpPr/>
          <p:nvPr/>
        </p:nvSpPr>
        <p:spPr>
          <a:xfrm>
            <a:off x="411475" y="2948950"/>
            <a:ext cx="4080600" cy="17034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lt1"/>
              </a:solidFill>
              <a:latin typeface="Open Sans"/>
              <a:ea typeface="Open Sans"/>
              <a:cs typeface="Open Sans"/>
              <a:sym typeface="Open Sans"/>
            </a:endParaRPr>
          </a:p>
        </p:txBody>
      </p:sp>
      <p:sp>
        <p:nvSpPr>
          <p:cNvPr id="608" name="Google Shape;608;p37"/>
          <p:cNvSpPr txBox="1"/>
          <p:nvPr/>
        </p:nvSpPr>
        <p:spPr>
          <a:xfrm>
            <a:off x="582930" y="3086100"/>
            <a:ext cx="3771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FFFFFF"/>
                </a:solidFill>
                <a:latin typeface="Open Sans"/>
                <a:ea typeface="Open Sans"/>
                <a:cs typeface="Open Sans"/>
                <a:sym typeface="Open Sans"/>
              </a:rPr>
              <a:t>p  &lt;  0.05</a:t>
            </a:r>
            <a:endParaRPr sz="1300">
              <a:latin typeface="Open Sans"/>
              <a:ea typeface="Open Sans"/>
              <a:cs typeface="Open Sans"/>
              <a:sym typeface="Open Sans"/>
            </a:endParaRPr>
          </a:p>
        </p:txBody>
      </p:sp>
      <p:sp>
        <p:nvSpPr>
          <p:cNvPr id="609" name="Google Shape;609;p37"/>
          <p:cNvSpPr txBox="1"/>
          <p:nvPr/>
        </p:nvSpPr>
        <p:spPr>
          <a:xfrm>
            <a:off x="582930" y="3497580"/>
            <a:ext cx="3771900" cy="890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GB" sz="1300">
                <a:solidFill>
                  <a:srgbClr val="F4F5F7"/>
                </a:solidFill>
                <a:latin typeface="Open Sans"/>
                <a:ea typeface="Open Sans"/>
                <a:cs typeface="Open Sans"/>
                <a:sym typeface="Open Sans"/>
              </a:rPr>
              <a:t>Reject the null hypothesis.</a:t>
            </a:r>
            <a:endParaRPr sz="1300">
              <a:latin typeface="Open Sans"/>
              <a:ea typeface="Open Sans"/>
              <a:cs typeface="Open Sans"/>
              <a:sym typeface="Open Sans"/>
            </a:endParaRPr>
          </a:p>
          <a:p>
            <a:pPr indent="0" lvl="0" marL="0" marR="0" rtl="0" algn="l">
              <a:lnSpc>
                <a:spcPct val="115000"/>
              </a:lnSpc>
              <a:spcBef>
                <a:spcPts val="0"/>
              </a:spcBef>
              <a:spcAft>
                <a:spcPts val="0"/>
              </a:spcAft>
              <a:buNone/>
            </a:pPr>
            <a:r>
              <a:t/>
            </a:r>
            <a:endParaRPr sz="1300">
              <a:solidFill>
                <a:srgbClr val="F4F5F7"/>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GB" sz="1300">
                <a:solidFill>
                  <a:srgbClr val="F4F5F7"/>
                </a:solidFill>
                <a:latin typeface="Open Sans"/>
                <a:ea typeface="Open Sans"/>
                <a:cs typeface="Open Sans"/>
                <a:sym typeface="Open Sans"/>
              </a:rPr>
              <a:t>The observed difference is unlikely under H₀.</a:t>
            </a:r>
            <a:endParaRPr sz="1300">
              <a:latin typeface="Open Sans"/>
              <a:ea typeface="Open Sans"/>
              <a:cs typeface="Open Sans"/>
              <a:sym typeface="Open Sans"/>
            </a:endParaRPr>
          </a:p>
          <a:p>
            <a:pPr indent="0" lvl="0" marL="0" marR="0" rtl="0" algn="l">
              <a:lnSpc>
                <a:spcPct val="115000"/>
              </a:lnSpc>
              <a:spcBef>
                <a:spcPts val="0"/>
              </a:spcBef>
              <a:spcAft>
                <a:spcPts val="0"/>
              </a:spcAft>
              <a:buNone/>
            </a:pPr>
            <a:r>
              <a:rPr lang="en-GB" sz="1300">
                <a:solidFill>
                  <a:srgbClr val="F4F5F7"/>
                </a:solidFill>
                <a:latin typeface="Open Sans"/>
                <a:ea typeface="Open Sans"/>
                <a:cs typeface="Open Sans"/>
                <a:sym typeface="Open Sans"/>
              </a:rPr>
              <a:t>There's evidence of a real effect.</a:t>
            </a:r>
            <a:endParaRPr sz="1300">
              <a:latin typeface="Open Sans"/>
              <a:ea typeface="Open Sans"/>
              <a:cs typeface="Open Sans"/>
              <a:sym typeface="Open Sans"/>
            </a:endParaRPr>
          </a:p>
        </p:txBody>
      </p:sp>
      <p:sp>
        <p:nvSpPr>
          <p:cNvPr id="610" name="Google Shape;610;p37"/>
          <p:cNvSpPr/>
          <p:nvPr/>
        </p:nvSpPr>
        <p:spPr>
          <a:xfrm>
            <a:off x="4629149" y="2948950"/>
            <a:ext cx="4080600" cy="17034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lt1"/>
              </a:solidFill>
              <a:latin typeface="Open Sans"/>
              <a:ea typeface="Open Sans"/>
              <a:cs typeface="Open Sans"/>
              <a:sym typeface="Open Sans"/>
            </a:endParaRPr>
          </a:p>
        </p:txBody>
      </p:sp>
      <p:sp>
        <p:nvSpPr>
          <p:cNvPr id="611" name="Google Shape;611;p37"/>
          <p:cNvSpPr txBox="1"/>
          <p:nvPr/>
        </p:nvSpPr>
        <p:spPr>
          <a:xfrm>
            <a:off x="4800600" y="3086100"/>
            <a:ext cx="3771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FFFFFF"/>
                </a:solidFill>
                <a:latin typeface="Open Sans"/>
                <a:ea typeface="Open Sans"/>
                <a:cs typeface="Open Sans"/>
                <a:sym typeface="Open Sans"/>
              </a:rPr>
              <a:t>p  ≥  0.05</a:t>
            </a:r>
            <a:endParaRPr sz="1300">
              <a:latin typeface="Open Sans"/>
              <a:ea typeface="Open Sans"/>
              <a:cs typeface="Open Sans"/>
              <a:sym typeface="Open Sans"/>
            </a:endParaRPr>
          </a:p>
        </p:txBody>
      </p:sp>
      <p:sp>
        <p:nvSpPr>
          <p:cNvPr id="612" name="Google Shape;612;p37"/>
          <p:cNvSpPr txBox="1"/>
          <p:nvPr/>
        </p:nvSpPr>
        <p:spPr>
          <a:xfrm>
            <a:off x="4800600" y="3497580"/>
            <a:ext cx="3771900" cy="890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GB" sz="1300">
                <a:solidFill>
                  <a:srgbClr val="F4F5F7"/>
                </a:solidFill>
                <a:latin typeface="Open Sans"/>
                <a:ea typeface="Open Sans"/>
                <a:cs typeface="Open Sans"/>
                <a:sym typeface="Open Sans"/>
              </a:rPr>
              <a:t>FAIL to reject the null hypothesis.</a:t>
            </a:r>
            <a:endParaRPr sz="1300">
              <a:latin typeface="Open Sans"/>
              <a:ea typeface="Open Sans"/>
              <a:cs typeface="Open Sans"/>
              <a:sym typeface="Open Sans"/>
            </a:endParaRPr>
          </a:p>
          <a:p>
            <a:pPr indent="0" lvl="0" marL="0" marR="0" rtl="0" algn="l">
              <a:lnSpc>
                <a:spcPct val="115000"/>
              </a:lnSpc>
              <a:spcBef>
                <a:spcPts val="0"/>
              </a:spcBef>
              <a:spcAft>
                <a:spcPts val="0"/>
              </a:spcAft>
              <a:buNone/>
            </a:pPr>
            <a:r>
              <a:t/>
            </a:r>
            <a:endParaRPr sz="1300">
              <a:solidFill>
                <a:srgbClr val="F4F5F7"/>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GB" sz="1300">
                <a:solidFill>
                  <a:srgbClr val="F4F5F7"/>
                </a:solidFill>
                <a:latin typeface="Open Sans"/>
                <a:ea typeface="Open Sans"/>
                <a:cs typeface="Open Sans"/>
                <a:sym typeface="Open Sans"/>
              </a:rPr>
              <a:t>Not enough evidence to declare an effect.</a:t>
            </a:r>
            <a:endParaRPr sz="1300">
              <a:latin typeface="Open Sans"/>
              <a:ea typeface="Open Sans"/>
              <a:cs typeface="Open Sans"/>
              <a:sym typeface="Open Sans"/>
            </a:endParaRPr>
          </a:p>
          <a:p>
            <a:pPr indent="0" lvl="0" marL="0" marR="0" rtl="0" algn="l">
              <a:lnSpc>
                <a:spcPct val="115000"/>
              </a:lnSpc>
              <a:spcBef>
                <a:spcPts val="0"/>
              </a:spcBef>
              <a:spcAft>
                <a:spcPts val="0"/>
              </a:spcAft>
              <a:buNone/>
            </a:pPr>
            <a:r>
              <a:rPr lang="en-GB" sz="1300">
                <a:solidFill>
                  <a:srgbClr val="F4F5F7"/>
                </a:solidFill>
                <a:latin typeface="Open Sans"/>
                <a:ea typeface="Open Sans"/>
                <a:cs typeface="Open Sans"/>
                <a:sym typeface="Open Sans"/>
              </a:rPr>
              <a:t>(NOT the same as ‘no effect’ — see next slide.)</a:t>
            </a:r>
            <a:endParaRPr sz="1300">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42"/>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693" name="Google Shape;693;p42"/>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94" name="Google Shape;694;p42"/>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Friday — The Three Defended Numbers</a:t>
            </a:r>
            <a:endParaRPr sz="1100"/>
          </a:p>
        </p:txBody>
      </p:sp>
      <p:sp>
        <p:nvSpPr>
          <p:cNvPr id="695" name="Google Shape;695;p42"/>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Same numbers, now backed by the right tools</a:t>
            </a:r>
            <a:endParaRPr sz="1100"/>
          </a:p>
        </p:txBody>
      </p:sp>
      <p:sp>
        <p:nvSpPr>
          <p:cNvPr id="696" name="Google Shape;696;p42"/>
          <p:cNvSpPr/>
          <p:nvPr/>
        </p:nvSpPr>
        <p:spPr>
          <a:xfrm>
            <a:off x="411480" y="1303020"/>
            <a:ext cx="1371600" cy="8901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97" name="Google Shape;697;p42"/>
          <p:cNvSpPr txBox="1"/>
          <p:nvPr/>
        </p:nvSpPr>
        <p:spPr>
          <a:xfrm>
            <a:off x="411480" y="1474470"/>
            <a:ext cx="13716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2400">
                <a:solidFill>
                  <a:schemeClr val="lt1"/>
                </a:solidFill>
                <a:latin typeface="Open Sans"/>
                <a:ea typeface="Open Sans"/>
                <a:cs typeface="Open Sans"/>
                <a:sym typeface="Open Sans"/>
              </a:rPr>
              <a:t>60%</a:t>
            </a:r>
            <a:endParaRPr sz="1100">
              <a:solidFill>
                <a:schemeClr val="lt1"/>
              </a:solidFill>
            </a:endParaRPr>
          </a:p>
        </p:txBody>
      </p:sp>
      <p:sp>
        <p:nvSpPr>
          <p:cNvPr id="698" name="Google Shape;698;p42"/>
          <p:cNvSpPr/>
          <p:nvPr/>
        </p:nvSpPr>
        <p:spPr>
          <a:xfrm>
            <a:off x="1885950" y="1303020"/>
            <a:ext cx="3086100" cy="8901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lt1"/>
              </a:solidFill>
              <a:latin typeface="Open Sans"/>
              <a:ea typeface="Open Sans"/>
              <a:cs typeface="Open Sans"/>
              <a:sym typeface="Open Sans"/>
            </a:endParaRPr>
          </a:p>
        </p:txBody>
      </p:sp>
      <p:sp>
        <p:nvSpPr>
          <p:cNvPr id="699" name="Google Shape;699;p42"/>
          <p:cNvSpPr txBox="1"/>
          <p:nvPr/>
        </p:nvSpPr>
        <p:spPr>
          <a:xfrm>
            <a:off x="2023110" y="1543050"/>
            <a:ext cx="2880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of reviews are positive</a:t>
            </a:r>
            <a:endParaRPr sz="1300"/>
          </a:p>
        </p:txBody>
      </p:sp>
      <p:sp>
        <p:nvSpPr>
          <p:cNvPr id="700" name="Google Shape;700;p42"/>
          <p:cNvSpPr/>
          <p:nvPr/>
        </p:nvSpPr>
        <p:spPr>
          <a:xfrm>
            <a:off x="5074920" y="1303020"/>
            <a:ext cx="3634500" cy="8901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lt1"/>
              </a:solidFill>
              <a:latin typeface="Open Sans"/>
              <a:ea typeface="Open Sans"/>
              <a:cs typeface="Open Sans"/>
              <a:sym typeface="Open Sans"/>
            </a:endParaRPr>
          </a:p>
        </p:txBody>
      </p:sp>
      <p:sp>
        <p:nvSpPr>
          <p:cNvPr id="701" name="Google Shape;701;p42"/>
          <p:cNvSpPr txBox="1"/>
          <p:nvPr/>
        </p:nvSpPr>
        <p:spPr>
          <a:xfrm>
            <a:off x="5212080" y="1543050"/>
            <a:ext cx="3429000" cy="43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GB" sz="1300">
                <a:solidFill>
                  <a:srgbClr val="FFFFFF"/>
                </a:solidFill>
                <a:latin typeface="Open Sans"/>
                <a:ea typeface="Open Sans"/>
                <a:cs typeface="Open Sans"/>
                <a:sym typeface="Open Sans"/>
              </a:rPr>
              <a:t xml:space="preserve">Distribution analysis  ·  </a:t>
            </a:r>
            <a:br>
              <a:rPr lang="en-GB" sz="1300">
                <a:solidFill>
                  <a:srgbClr val="FFFFFF"/>
                </a:solidFill>
                <a:latin typeface="Open Sans"/>
                <a:ea typeface="Open Sans"/>
                <a:cs typeface="Open Sans"/>
                <a:sym typeface="Open Sans"/>
              </a:rPr>
            </a:br>
            <a:r>
              <a:rPr lang="en-GB" sz="1300">
                <a:solidFill>
                  <a:srgbClr val="FFFFFF"/>
                </a:solidFill>
                <a:latin typeface="Open Sans"/>
                <a:ea typeface="Open Sans"/>
                <a:cs typeface="Open Sans"/>
                <a:sym typeface="Open Sans"/>
              </a:rPr>
              <a:t>Median + chart of skew</a:t>
            </a:r>
            <a:endParaRPr sz="1300"/>
          </a:p>
        </p:txBody>
      </p:sp>
      <p:sp>
        <p:nvSpPr>
          <p:cNvPr id="702" name="Google Shape;702;p42"/>
          <p:cNvSpPr/>
          <p:nvPr/>
        </p:nvSpPr>
        <p:spPr>
          <a:xfrm>
            <a:off x="411480" y="2194560"/>
            <a:ext cx="1371600" cy="8901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703" name="Google Shape;703;p42"/>
          <p:cNvSpPr txBox="1"/>
          <p:nvPr/>
        </p:nvSpPr>
        <p:spPr>
          <a:xfrm>
            <a:off x="411480" y="2366010"/>
            <a:ext cx="13716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2400">
                <a:solidFill>
                  <a:schemeClr val="lt1"/>
                </a:solidFill>
                <a:latin typeface="Open Sans"/>
                <a:ea typeface="Open Sans"/>
                <a:cs typeface="Open Sans"/>
                <a:sym typeface="Open Sans"/>
              </a:rPr>
              <a:t>84%</a:t>
            </a:r>
            <a:endParaRPr sz="1100">
              <a:solidFill>
                <a:schemeClr val="lt1"/>
              </a:solidFill>
            </a:endParaRPr>
          </a:p>
        </p:txBody>
      </p:sp>
      <p:sp>
        <p:nvSpPr>
          <p:cNvPr id="704" name="Google Shape;704;p42"/>
          <p:cNvSpPr/>
          <p:nvPr/>
        </p:nvSpPr>
        <p:spPr>
          <a:xfrm>
            <a:off x="1885950" y="2194560"/>
            <a:ext cx="3086100" cy="8901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lt1"/>
              </a:solidFill>
              <a:latin typeface="Open Sans"/>
              <a:ea typeface="Open Sans"/>
              <a:cs typeface="Open Sans"/>
              <a:sym typeface="Open Sans"/>
            </a:endParaRPr>
          </a:p>
        </p:txBody>
      </p:sp>
      <p:sp>
        <p:nvSpPr>
          <p:cNvPr id="705" name="Google Shape;705;p42"/>
          <p:cNvSpPr txBox="1"/>
          <p:nvPr/>
        </p:nvSpPr>
        <p:spPr>
          <a:xfrm>
            <a:off x="2023110" y="2434590"/>
            <a:ext cx="2880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model accuracy</a:t>
            </a:r>
            <a:endParaRPr sz="1300"/>
          </a:p>
        </p:txBody>
      </p:sp>
      <p:sp>
        <p:nvSpPr>
          <p:cNvPr id="706" name="Google Shape;706;p42"/>
          <p:cNvSpPr/>
          <p:nvPr/>
        </p:nvSpPr>
        <p:spPr>
          <a:xfrm>
            <a:off x="5074920" y="2194560"/>
            <a:ext cx="3634500" cy="8901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lt1"/>
              </a:solidFill>
              <a:latin typeface="Open Sans"/>
              <a:ea typeface="Open Sans"/>
              <a:cs typeface="Open Sans"/>
              <a:sym typeface="Open Sans"/>
            </a:endParaRPr>
          </a:p>
        </p:txBody>
      </p:sp>
      <p:sp>
        <p:nvSpPr>
          <p:cNvPr id="707" name="Google Shape;707;p42"/>
          <p:cNvSpPr txBox="1"/>
          <p:nvPr/>
        </p:nvSpPr>
        <p:spPr>
          <a:xfrm>
            <a:off x="5212080" y="2434590"/>
            <a:ext cx="3429000" cy="43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GB" sz="1300">
                <a:solidFill>
                  <a:srgbClr val="FFFFFF"/>
                </a:solidFill>
                <a:latin typeface="Open Sans"/>
                <a:ea typeface="Open Sans"/>
                <a:cs typeface="Open Sans"/>
                <a:sym typeface="Open Sans"/>
              </a:rPr>
              <a:t xml:space="preserve">Confidence interval  ·  </a:t>
            </a:r>
            <a:br>
              <a:rPr lang="en-GB" sz="1300">
                <a:solidFill>
                  <a:srgbClr val="FFFFFF"/>
                </a:solidFill>
                <a:latin typeface="Open Sans"/>
                <a:ea typeface="Open Sans"/>
                <a:cs typeface="Open Sans"/>
                <a:sym typeface="Open Sans"/>
              </a:rPr>
            </a:br>
            <a:r>
              <a:rPr lang="en-GB" sz="1300">
                <a:solidFill>
                  <a:srgbClr val="FFFFFF"/>
                </a:solidFill>
                <a:latin typeface="Open Sans"/>
                <a:ea typeface="Open Sans"/>
                <a:cs typeface="Open Sans"/>
                <a:sym typeface="Open Sans"/>
              </a:rPr>
              <a:t>95% CI: [78%, 89%] from n=200</a:t>
            </a:r>
            <a:endParaRPr sz="1300"/>
          </a:p>
        </p:txBody>
      </p:sp>
      <p:sp>
        <p:nvSpPr>
          <p:cNvPr id="708" name="Google Shape;708;p42"/>
          <p:cNvSpPr/>
          <p:nvPr/>
        </p:nvSpPr>
        <p:spPr>
          <a:xfrm>
            <a:off x="411480" y="3086100"/>
            <a:ext cx="1371600" cy="8901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709" name="Google Shape;709;p42"/>
          <p:cNvSpPr txBox="1"/>
          <p:nvPr/>
        </p:nvSpPr>
        <p:spPr>
          <a:xfrm>
            <a:off x="411480" y="3257550"/>
            <a:ext cx="13716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2400">
                <a:solidFill>
                  <a:schemeClr val="lt1"/>
                </a:solidFill>
                <a:latin typeface="Open Sans"/>
                <a:ea typeface="Open Sans"/>
                <a:cs typeface="Open Sans"/>
                <a:sym typeface="Open Sans"/>
              </a:rPr>
              <a:t>~6pp</a:t>
            </a:r>
            <a:endParaRPr sz="1100">
              <a:solidFill>
                <a:schemeClr val="lt1"/>
              </a:solidFill>
            </a:endParaRPr>
          </a:p>
        </p:txBody>
      </p:sp>
      <p:sp>
        <p:nvSpPr>
          <p:cNvPr id="710" name="Google Shape;710;p42"/>
          <p:cNvSpPr/>
          <p:nvPr/>
        </p:nvSpPr>
        <p:spPr>
          <a:xfrm>
            <a:off x="1885950" y="3086100"/>
            <a:ext cx="3086100" cy="8901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lt1"/>
              </a:solidFill>
              <a:latin typeface="Open Sans"/>
              <a:ea typeface="Open Sans"/>
              <a:cs typeface="Open Sans"/>
              <a:sym typeface="Open Sans"/>
            </a:endParaRPr>
          </a:p>
        </p:txBody>
      </p:sp>
      <p:sp>
        <p:nvSpPr>
          <p:cNvPr id="711" name="Google Shape;711;p42"/>
          <p:cNvSpPr txBox="1"/>
          <p:nvPr/>
        </p:nvSpPr>
        <p:spPr>
          <a:xfrm>
            <a:off x="2023110" y="3326130"/>
            <a:ext cx="2880600" cy="43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drop in 30-day complaint rate from the coupon (p &lt; 0.05)</a:t>
            </a:r>
            <a:endParaRPr sz="1300"/>
          </a:p>
        </p:txBody>
      </p:sp>
      <p:sp>
        <p:nvSpPr>
          <p:cNvPr id="712" name="Google Shape;712;p42"/>
          <p:cNvSpPr/>
          <p:nvPr/>
        </p:nvSpPr>
        <p:spPr>
          <a:xfrm>
            <a:off x="5074920" y="3086100"/>
            <a:ext cx="3634500" cy="8901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lt1"/>
              </a:solidFill>
              <a:latin typeface="Open Sans"/>
              <a:ea typeface="Open Sans"/>
              <a:cs typeface="Open Sans"/>
              <a:sym typeface="Open Sans"/>
            </a:endParaRPr>
          </a:p>
        </p:txBody>
      </p:sp>
      <p:sp>
        <p:nvSpPr>
          <p:cNvPr id="713" name="Google Shape;713;p42"/>
          <p:cNvSpPr txBox="1"/>
          <p:nvPr/>
        </p:nvSpPr>
        <p:spPr>
          <a:xfrm>
            <a:off x="5212080" y="3326130"/>
            <a:ext cx="34290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GB" sz="1300">
                <a:solidFill>
                  <a:srgbClr val="FFFFFF"/>
                </a:solidFill>
                <a:latin typeface="Open Sans"/>
                <a:ea typeface="Open Sans"/>
                <a:cs typeface="Open Sans"/>
                <a:sym typeface="Open Sans"/>
              </a:rPr>
              <a:t>A/B test  ·  Two-proportion z-test</a:t>
            </a:r>
            <a:endParaRPr sz="1300"/>
          </a:p>
        </p:txBody>
      </p:sp>
      <p:sp>
        <p:nvSpPr>
          <p:cNvPr id="714" name="Google Shape;714;p42"/>
          <p:cNvSpPr/>
          <p:nvPr/>
        </p:nvSpPr>
        <p:spPr>
          <a:xfrm>
            <a:off x="411480" y="4114800"/>
            <a:ext cx="8298300" cy="566700"/>
          </a:xfrm>
          <a:prstGeom prst="rect">
            <a:avLst/>
          </a:prstGeom>
          <a:solidFill>
            <a:srgbClr val="1B2A4A"/>
          </a:solidFill>
          <a:ln>
            <a:noFill/>
          </a:ln>
        </p:spPr>
        <p:txBody>
          <a:bodyPr anchorCtr="0" anchor="ctr" bIns="108000" lIns="108000" spcFirstLastPara="1" rIns="108000" wrap="square" tIns="108000">
            <a:noAutofit/>
          </a:bodyPr>
          <a:lstStyle/>
          <a:p>
            <a:pPr indent="0" lvl="0" marL="0" rtl="0" algn="l">
              <a:lnSpc>
                <a:spcPct val="115000"/>
              </a:lnSpc>
              <a:spcBef>
                <a:spcPts val="0"/>
              </a:spcBef>
              <a:spcAft>
                <a:spcPts val="0"/>
              </a:spcAft>
              <a:buNone/>
            </a:pPr>
            <a:r>
              <a:rPr lang="en-GB" sz="1300">
                <a:solidFill>
                  <a:schemeClr val="lt1"/>
                </a:solidFill>
                <a:latin typeface="Open Sans"/>
                <a:ea typeface="Open Sans"/>
                <a:cs typeface="Open Sans"/>
                <a:sym typeface="Open Sans"/>
              </a:rPr>
              <a:t xml:space="preserve">Priya: </a:t>
            </a:r>
            <a:r>
              <a:rPr i="1" lang="en-GB" sz="1300">
                <a:solidFill>
                  <a:schemeClr val="lt1"/>
                </a:solidFill>
                <a:latin typeface="Open Sans"/>
                <a:ea typeface="Open Sans"/>
                <a:cs typeface="Open Sans"/>
                <a:sym typeface="Open Sans"/>
              </a:rPr>
              <a:t>'Looks great. But you used a pre-trained model. Can you build one TRAINED on NorthStar's own data?'</a:t>
            </a:r>
            <a:endParaRPr>
              <a:solidFill>
                <a:schemeClr val="lt1"/>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43"/>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721" name="Google Shape;721;p43"/>
          <p:cNvSpPr/>
          <p:nvPr/>
        </p:nvSpPr>
        <p:spPr>
          <a:xfrm>
            <a:off x="0" y="0"/>
            <a:ext cx="9143700" cy="51435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722" name="Google Shape;722;p43"/>
          <p:cNvSpPr txBox="1"/>
          <p:nvPr/>
        </p:nvSpPr>
        <p:spPr>
          <a:xfrm>
            <a:off x="548640" y="548640"/>
            <a:ext cx="80238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chemeClr val="accent6"/>
                </a:solidFill>
                <a:latin typeface="Open Sans"/>
                <a:ea typeface="Open Sans"/>
                <a:cs typeface="Open Sans"/>
                <a:sym typeface="Open Sans"/>
              </a:rPr>
              <a:t>Bridge to L03</a:t>
            </a:r>
            <a:endParaRPr sz="1100">
              <a:solidFill>
                <a:schemeClr val="accent6"/>
              </a:solidFill>
            </a:endParaRPr>
          </a:p>
        </p:txBody>
      </p:sp>
      <p:sp>
        <p:nvSpPr>
          <p:cNvPr id="723" name="Google Shape;723;p43"/>
          <p:cNvSpPr txBox="1"/>
          <p:nvPr/>
        </p:nvSpPr>
        <p:spPr>
          <a:xfrm>
            <a:off x="548640" y="1060625"/>
            <a:ext cx="733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Marcus, after the Friday meeting:</a:t>
            </a:r>
            <a:endParaRPr sz="1100"/>
          </a:p>
        </p:txBody>
      </p:sp>
      <p:sp>
        <p:nvSpPr>
          <p:cNvPr id="724" name="Google Shape;724;p43"/>
          <p:cNvSpPr txBox="1"/>
          <p:nvPr/>
        </p:nvSpPr>
        <p:spPr>
          <a:xfrm>
            <a:off x="1105300" y="1692250"/>
            <a:ext cx="6636300" cy="1364100"/>
          </a:xfrm>
          <a:prstGeom prst="rect">
            <a:avLst/>
          </a:prstGeom>
          <a:noFill/>
          <a:ln cap="flat" cmpd="sng" w="9525">
            <a:solidFill>
              <a:schemeClr val="accent1"/>
            </a:solidFill>
            <a:prstDash val="solid"/>
            <a:round/>
            <a:headEnd len="sm" w="sm" type="none"/>
            <a:tailEnd len="sm" w="sm" type="none"/>
          </a:ln>
        </p:spPr>
        <p:txBody>
          <a:bodyPr anchorCtr="0" anchor="t" bIns="180000" lIns="180000" spcFirstLastPara="1" rIns="180000" wrap="square" tIns="180000">
            <a:spAutoFit/>
          </a:bodyPr>
          <a:lstStyle/>
          <a:p>
            <a:pPr indent="0" lvl="0" marL="0" marR="0" rtl="0" algn="l">
              <a:spcBef>
                <a:spcPts val="0"/>
              </a:spcBef>
              <a:spcAft>
                <a:spcPts val="0"/>
              </a:spcAft>
              <a:buNone/>
            </a:pPr>
            <a:r>
              <a:rPr b="0" i="1" lang="en-GB" sz="1300">
                <a:solidFill>
                  <a:srgbClr val="FFFFFF"/>
                </a:solidFill>
                <a:latin typeface="Open Sans"/>
                <a:ea typeface="Open Sans"/>
                <a:cs typeface="Open Sans"/>
                <a:sym typeface="Open Sans"/>
              </a:rPr>
              <a:t>"OK. The sentiment model holds up. But you used a pre-trained one — off the shelf.</a:t>
            </a:r>
            <a:endParaRPr i="1" sz="1300"/>
          </a:p>
          <a:p>
            <a:pPr indent="0" lvl="0" marL="0" marR="0" rtl="0" algn="l">
              <a:spcBef>
                <a:spcPts val="0"/>
              </a:spcBef>
              <a:spcAft>
                <a:spcPts val="0"/>
              </a:spcAft>
              <a:buNone/>
            </a:pPr>
            <a:r>
              <a:t/>
            </a:r>
            <a:endParaRPr b="0" i="1" sz="1300">
              <a:solidFill>
                <a:srgbClr val="FFFFFF"/>
              </a:solidFill>
              <a:latin typeface="Open Sans"/>
              <a:ea typeface="Open Sans"/>
              <a:cs typeface="Open Sans"/>
              <a:sym typeface="Open Sans"/>
            </a:endParaRPr>
          </a:p>
          <a:p>
            <a:pPr indent="0" lvl="0" marL="0" marR="0" rtl="0" algn="l">
              <a:spcBef>
                <a:spcPts val="0"/>
              </a:spcBef>
              <a:spcAft>
                <a:spcPts val="0"/>
              </a:spcAft>
              <a:buNone/>
            </a:pPr>
            <a:r>
              <a:rPr b="0" i="1" lang="en-GB" sz="1300">
                <a:solidFill>
                  <a:srgbClr val="FFFFFF"/>
                </a:solidFill>
                <a:latin typeface="Open Sans"/>
                <a:ea typeface="Open Sans"/>
                <a:cs typeface="Open Sans"/>
                <a:sym typeface="Open Sans"/>
              </a:rPr>
              <a:t>Can you build us a model that predicts CHURN from our own customer data?</a:t>
            </a:r>
            <a:endParaRPr i="1" sz="1300"/>
          </a:p>
          <a:p>
            <a:pPr indent="0" lvl="0" marL="0" marR="0" rtl="0" algn="l">
              <a:spcBef>
                <a:spcPts val="0"/>
              </a:spcBef>
              <a:spcAft>
                <a:spcPts val="0"/>
              </a:spcAft>
              <a:buNone/>
            </a:pPr>
            <a:r>
              <a:t/>
            </a:r>
            <a:endParaRPr b="0" i="1" sz="1300">
              <a:solidFill>
                <a:srgbClr val="FFFFFF"/>
              </a:solidFill>
              <a:latin typeface="Open Sans"/>
              <a:ea typeface="Open Sans"/>
              <a:cs typeface="Open Sans"/>
              <a:sym typeface="Open Sans"/>
            </a:endParaRPr>
          </a:p>
          <a:p>
            <a:pPr indent="0" lvl="0" marL="0" marR="0" rtl="0" algn="l">
              <a:spcBef>
                <a:spcPts val="0"/>
              </a:spcBef>
              <a:spcAft>
                <a:spcPts val="0"/>
              </a:spcAft>
              <a:buNone/>
            </a:pPr>
            <a:r>
              <a:rPr b="0" i="1" lang="en-GB" sz="1300">
                <a:solidFill>
                  <a:srgbClr val="FFFFFF"/>
                </a:solidFill>
                <a:latin typeface="Open Sans"/>
                <a:ea typeface="Open Sans"/>
                <a:cs typeface="Open Sans"/>
                <a:sym typeface="Open Sans"/>
              </a:rPr>
              <a:t>Something trained on NorthStar behaviour, not some generic internet corpus?"</a:t>
            </a:r>
            <a:endParaRPr i="1" sz="1300"/>
          </a:p>
        </p:txBody>
      </p:sp>
      <p:sp>
        <p:nvSpPr>
          <p:cNvPr id="725" name="Google Shape;725;p43"/>
          <p:cNvSpPr txBox="1"/>
          <p:nvPr/>
        </p:nvSpPr>
        <p:spPr>
          <a:xfrm>
            <a:off x="548650" y="3423800"/>
            <a:ext cx="7749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chemeClr val="accent6"/>
                </a:solidFill>
                <a:latin typeface="Open Sans"/>
                <a:ea typeface="Open Sans"/>
                <a:cs typeface="Open Sans"/>
                <a:sym typeface="Open Sans"/>
              </a:rPr>
              <a:t>Lesson 3 — Supervised Learning Foundations</a:t>
            </a:r>
            <a:endParaRPr sz="1600">
              <a:solidFill>
                <a:schemeClr val="accent6"/>
              </a:solidFill>
            </a:endParaRPr>
          </a:p>
        </p:txBody>
      </p:sp>
      <p:sp>
        <p:nvSpPr>
          <p:cNvPr id="726" name="Google Shape;726;p43"/>
          <p:cNvSpPr txBox="1"/>
          <p:nvPr/>
        </p:nvSpPr>
        <p:spPr>
          <a:xfrm>
            <a:off x="548650" y="380099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Train/test split · preprocessing · regression vs classification · linear &amp; logistic models.</a:t>
            </a:r>
            <a:endParaRPr sz="1300"/>
          </a:p>
        </p:txBody>
      </p:sp>
      <p:sp>
        <p:nvSpPr>
          <p:cNvPr id="727" name="Google Shape;727;p43"/>
          <p:cNvSpPr txBox="1"/>
          <p:nvPr/>
        </p:nvSpPr>
        <p:spPr>
          <a:xfrm>
            <a:off x="548650" y="417818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DDE1E6"/>
                </a:solidFill>
                <a:latin typeface="Open Sans"/>
                <a:ea typeface="Open Sans"/>
                <a:cs typeface="Open Sans"/>
                <a:sym typeface="Open Sans"/>
              </a:rPr>
              <a:t>First time you train a model end-to-end on NorthStar's own data.</a:t>
            </a:r>
            <a:endParaRPr sz="1300"/>
          </a:p>
        </p:txBody>
      </p:sp>
      <p:sp>
        <p:nvSpPr>
          <p:cNvPr id="728" name="Google Shape;728;p43"/>
          <p:cNvSpPr txBox="1"/>
          <p:nvPr/>
        </p:nvSpPr>
        <p:spPr>
          <a:xfrm>
            <a:off x="548650" y="452108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Assignment due before L03 — same workflow, new dataset (Lakeside Bank).</a:t>
            </a:r>
            <a:endParaRPr sz="1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45"/>
          <p:cNvSpPr txBox="1"/>
          <p:nvPr>
            <p:ph type="title"/>
          </p:nvPr>
        </p:nvSpPr>
        <p:spPr>
          <a:xfrm>
            <a:off x="376550" y="147875"/>
            <a:ext cx="8310000" cy="7599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GB"/>
              <a:t>End of Lesson - Exit Ticket</a:t>
            </a:r>
            <a:endParaRPr b="1"/>
          </a:p>
        </p:txBody>
      </p:sp>
      <p:pic>
        <p:nvPicPr>
          <p:cNvPr id="746" name="Google Shape;746;p45"/>
          <p:cNvPicPr preferRelativeResize="0"/>
          <p:nvPr/>
        </p:nvPicPr>
        <p:blipFill>
          <a:blip r:embed="rId3">
            <a:alphaModFix/>
          </a:blip>
          <a:stretch>
            <a:fillRect/>
          </a:stretch>
        </p:blipFill>
        <p:spPr>
          <a:xfrm>
            <a:off x="6391250" y="2165525"/>
            <a:ext cx="2719974" cy="2719974"/>
          </a:xfrm>
          <a:prstGeom prst="rect">
            <a:avLst/>
          </a:prstGeom>
          <a:noFill/>
          <a:ln>
            <a:noFill/>
          </a:ln>
        </p:spPr>
      </p:pic>
      <p:sp>
        <p:nvSpPr>
          <p:cNvPr id="747" name="Google Shape;747;p45"/>
          <p:cNvSpPr txBox="1"/>
          <p:nvPr/>
        </p:nvSpPr>
        <p:spPr>
          <a:xfrm>
            <a:off x="376550" y="1589175"/>
            <a:ext cx="71070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400">
                <a:latin typeface="Open Sans"/>
                <a:ea typeface="Open Sans"/>
                <a:cs typeface="Open Sans"/>
                <a:sym typeface="Open Sans"/>
              </a:rPr>
              <a:t>Survey Link</a:t>
            </a:r>
            <a:endParaRPr b="1" sz="2400">
              <a:latin typeface="Open Sans"/>
              <a:ea typeface="Open Sans"/>
              <a:cs typeface="Open Sans"/>
              <a:sym typeface="Open Sans"/>
            </a:endParaRPr>
          </a:p>
          <a:p>
            <a:pPr indent="0" lvl="0" marL="0" rtl="0" algn="ctr">
              <a:spcBef>
                <a:spcPts val="0"/>
              </a:spcBef>
              <a:spcAft>
                <a:spcPts val="0"/>
              </a:spcAft>
              <a:buNone/>
            </a:pPr>
            <a:r>
              <a:t/>
            </a:r>
            <a:endParaRPr sz="2400">
              <a:latin typeface="Open Sans Light"/>
              <a:ea typeface="Open Sans Light"/>
              <a:cs typeface="Open Sans Light"/>
              <a:sym typeface="Open Sans Light"/>
            </a:endParaRPr>
          </a:p>
          <a:p>
            <a:pPr indent="0" lvl="0" marL="0" rtl="0" algn="ctr">
              <a:spcBef>
                <a:spcPts val="0"/>
              </a:spcBef>
              <a:spcAft>
                <a:spcPts val="0"/>
              </a:spcAft>
              <a:buNone/>
            </a:pPr>
            <a:r>
              <a:rPr lang="en-GB" sz="2400">
                <a:latin typeface="Open Sans Light"/>
                <a:ea typeface="Open Sans Light"/>
                <a:cs typeface="Open Sans Light"/>
                <a:sym typeface="Open Sans Light"/>
              </a:rPr>
              <a:t>Slido link will be provided in class</a:t>
            </a:r>
            <a:endParaRPr sz="2400">
              <a:latin typeface="Open Sans Light"/>
              <a:ea typeface="Open Sans Light"/>
              <a:cs typeface="Open Sans Light"/>
              <a:sym typeface="Open Sans 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TU SCTP">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